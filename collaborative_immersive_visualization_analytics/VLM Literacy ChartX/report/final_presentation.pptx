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[NAGA]</a:t>
            </a:r>
          </a:p>
          <a:p/>
          <a:p>
            <a:r>
              <a:rPr sz="1400"/>
              <a:t>Good morning everyone. My name is Naga Venkata Sai Chennu, and this is my partner Hemanjali Buchireddy. Today we are presenting our final project for CS 692, Mobile Immersive Computing, under Dr. Bo Han.</a:t>
            </a:r>
          </a:p>
          <a:p/>
          <a:p>
            <a:r>
              <a:rPr sz="1400"/>
              <a:t>Our project is titled "An Empirical Evaluation of Vision-Language Model Visualization Literacy Across 18 Chart Types." We worked on this in collaboration with Fahim Arsad Nafis, a PhD candidate in Dr. Han's research group.</a:t>
            </a:r>
          </a:p>
          <a:p/>
          <a:p>
            <a:r>
              <a:rPr sz="1400"/>
              <a:t>I will cover the first half of our presentation — the project overview, dataset, methodology, and our main accuracy results. Then Hemanjali will take over for the second half — the 3D results, failure analysis, design guidelines, and future work.</a:t>
            </a:r>
          </a:p>
          <a:p/>
          <a:p>
            <a:r>
              <a:rPr sz="1400"/>
              <a:t>Let's get started.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[NAGA]</a:t>
            </a:r>
          </a:p>
          <a:p/>
          <a:p>
            <a:r>
              <a:rPr sz="1400"/>
              <a:t>Here is a quick overview of our project.</a:t>
            </a:r>
          </a:p>
          <a:p/>
          <a:p>
            <a:r>
              <a:rPr sz="1400"/>
              <a:t>The core research question is: How well can Vision-Language Models understand data visualizations, and what happens when those charts move from 2D to 3D?</a:t>
            </a:r>
          </a:p>
          <a:p/>
          <a:p>
            <a:r>
              <a:rPr sz="1400"/>
              <a:t>This matters because immersive analytics — VR and AR — renders charts in 3D by default. If VLMs cannot read 3D charts, they cannot serve as assistants in VR.</a:t>
            </a:r>
          </a:p>
          <a:p/>
          <a:p>
            <a:r>
              <a:rPr sz="1400"/>
              <a:t>We evaluated GPT-5.4 on the ChartX benchmark — 6,000 chart images across 18 chart types and 22 academic topics. Every image comes with a human-authored question and ground-truth answer.</a:t>
            </a:r>
          </a:p>
          <a:p/>
          <a:p>
            <a:r>
              <a:rPr sz="1400"/>
              <a:t>Looking at the key numbers on the right: 85.7 percent on 2D charts, but only 59.3 percent on 3D. A 43.7 percentage-point gap between the best and worst chart types. And we tested all 6,000 images.</a:t>
            </a:r>
          </a:p>
          <a:p/>
          <a:p>
            <a:r>
              <a:rPr sz="1400"/>
              <a:t>No prior work has evaluated VLMs across this many chart types in a single study.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[NAGA]</a:t>
            </a:r>
          </a:p>
          <a:p/>
          <a:p>
            <a:r>
              <a:rPr sz="1400"/>
              <a:t>Let me tell you about the ChartX dataset.</a:t>
            </a:r>
          </a:p>
          <a:p/>
          <a:p>
            <a:r>
              <a:rPr sz="1400"/>
              <a:t>It is publicly available on HuggingFace under InternScience/ChartX. It contains 6,000 PNG chart images organized into 18 chart types. The topics span 22 academic domains including healthcare, economics, education, and environmental science.</a:t>
            </a:r>
          </a:p>
          <a:p/>
          <a:p>
            <a:r>
              <a:rPr sz="1400"/>
              <a:t>Each image has exactly one question and one answer, authored by human annotators. On the right you can see a sample bar chart. The question is: "How many more nurses are in the East region compared to the North region?" The answer is 500.</a:t>
            </a:r>
          </a:p>
          <a:p/>
          <a:p>
            <a:r>
              <a:rPr sz="1400"/>
              <a:t>These are the original images from the benchmark — we did not generate or modify any of them. This makes our results directly comparable to other researchers using ChartX.</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[NAGA]</a:t>
            </a:r>
          </a:p>
          <a:p/>
          <a:p>
            <a:r>
              <a:rPr sz="1400"/>
              <a:t>Our pipeline is fully automated with five steps.</a:t>
            </a:r>
          </a:p>
          <a:p/>
          <a:p>
            <a:r>
              <a:rPr sz="1400"/>
              <a:t>Step 1: Load each chart image and its question from ChartX.</a:t>
            </a:r>
          </a:p>
          <a:p>
            <a:r>
              <a:rPr sz="1400"/>
              <a:t>Step 2: Send the image and question to GPT-5.4 with temperature zero for deterministic results.</a:t>
            </a:r>
          </a:p>
          <a:p>
            <a:r>
              <a:rPr sz="1400"/>
              <a:t>Step 3: Parse the model's free-text response.</a:t>
            </a:r>
          </a:p>
          <a:p>
            <a:r>
              <a:rPr sz="1400"/>
              <a:t>Step 4: Score using 10 percent numeric tolerance and keyword matching.</a:t>
            </a:r>
          </a:p>
          <a:p>
            <a:r>
              <a:rPr sz="1400"/>
              <a:t>Step 5: Cache every response as JSON for reproducibility.</a:t>
            </a:r>
          </a:p>
          <a:p/>
          <a:p>
            <a:r>
              <a:rPr sz="1400"/>
              <a:t>This is a zero-shot evaluation — no system prompt, no few-shot examples, no chain-of-thought. We are testing the model's raw chart reading ability. The total cost was approximately 10 dollars for all 6,000 images.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[NAGA]</a:t>
            </a:r>
          </a:p>
          <a:p/>
          <a:p>
            <a:r>
              <a:rPr sz="1400"/>
              <a:t>Now the main results. This is our most important slide.</a:t>
            </a:r>
          </a:p>
          <a:p/>
          <a:p>
            <a:r>
              <a:rPr sz="1400"/>
              <a:t>GPT-5.4 achieves 85.7 percent overall accuracy across 5,713 two-dimensional chart images. But look at the variation.</a:t>
            </a:r>
          </a:p>
          <a:p/>
          <a:p>
            <a:r>
              <a:rPr sz="1400"/>
              <a:t>At the top: line charts at 95.3 percent, pie charts at 94.7 percent, bar charts with labels at 92.1 percent. Thirteen chart types exceed 83 percent.</a:t>
            </a:r>
          </a:p>
          <a:p/>
          <a:p>
            <a:r>
              <a:rPr sz="1400"/>
              <a:t>At the bottom: area charts at 77.4 percent, bubble charts at 71.1 percent, radar at 68.2 percent, and treemaps at just 51.6 percent.</a:t>
            </a:r>
          </a:p>
          <a:p/>
          <a:p>
            <a:r>
              <a:rPr sz="1400"/>
              <a:t>The gap between best and worst is 43.7 percentage points. This is not random — it follows a pattern that perceptual science predicted 40 years ago. Let me show you.</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[NAGA]</a:t>
            </a:r>
          </a:p>
          <a:p/>
          <a:p>
            <a:r>
              <a:rPr sz="1400"/>
              <a:t>Why do some chart types score 95 percent and others only 52 percent?</a:t>
            </a:r>
          </a:p>
          <a:p/>
          <a:p>
            <a:r>
              <a:rPr sz="1400"/>
              <a:t>In 1984, Cleveland and McGill ranked how accurately humans read different visual encodings. Position along a common scale is the most accurate. Area is among the least accurate.</a:t>
            </a:r>
          </a:p>
          <a:p/>
          <a:p>
            <a:r>
              <a:rPr sz="1400"/>
              <a:t>Our results match this hierarchy almost perfectly. Position-encoded charts like bar and line average 90 percent. Angle and arc charts like pie average 92.5 percent. But area-encoded charts like treemaps and bubble charts average only about 60 percent.</a:t>
            </a:r>
          </a:p>
          <a:p/>
          <a:p>
            <a:r>
              <a:rPr sz="1400"/>
              <a:t>Stevens' Power Law explains why: the perception exponent for line length is 1.0, meaning perception is linear. For area, the exponent is only 0.7, meaning a rectangle twice the area appears only about 60 percent larger. This makes exact value extraction from area encoding fundamentally imprecise.</a:t>
            </a:r>
          </a:p>
          <a:p/>
          <a:p>
            <a:r>
              <a:rPr sz="1400"/>
              <a:t>VLMs have learned the same perceptual hierarchy as human vision.</a:t>
            </a:r>
          </a:p>
          <a:p/>
          <a:p>
            <a:r>
              <a:rPr sz="1400"/>
              <a:t>Now I will hand over to Hemanjali, who will present the 3D results, failure analysis, and our design guidelines.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[HEMANJALI]</a:t>
            </a:r>
          </a:p>
          <a:p/>
          <a:p>
            <a:r>
              <a:rPr sz="1400"/>
              <a:t>Thank you, Naga. I will now present our 3D evaluation results.</a:t>
            </a:r>
          </a:p>
          <a:p/>
          <a:p>
            <a:r>
              <a:rPr sz="1400"/>
              <a:t>We evaluated all 280 three-dimensional bar chart images in ChartX. The results are dramatic.</a:t>
            </a:r>
          </a:p>
          <a:p/>
          <a:p>
            <a:r>
              <a:rPr sz="1400"/>
              <a:t>Two-dimensional bar charts with numeric labels achieve 92.1 percent. Without labels, 87.7 percent. But 3D bar charts drop to just 59.3 percent.</a:t>
            </a:r>
          </a:p>
          <a:p/>
          <a:p>
            <a:r>
              <a:rPr sz="1400"/>
              <a:t>That is a 26 to 33 percentage-point collapse, just from changing the rendering from 2D to 3D. The data is the same. The questions are the same. Only the visual presentation changed.</a:t>
            </a:r>
          </a:p>
          <a:p/>
          <a:p>
            <a:r>
              <a:rPr sz="1400"/>
              <a:t>You can see the two sample images here. The 2D chart on the left is clean and easy to read. The 3D chart on the right shows the same data but with perspective distortion and depth that make it much harder to determine exact values.</a:t>
            </a:r>
          </a:p>
          <a:p/>
          <a:p>
            <a:r>
              <a:rPr sz="1400"/>
              <a:t>This has major implications for immersive analytics, where 3D is the default.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[HEMANJALI]</a:t>
            </a:r>
          </a:p>
          <a:p/>
          <a:p>
            <a:r>
              <a:rPr sz="1400"/>
              <a:t>Why exactly do 3D charts cause this failure? Claus Wilke identifies four distortion mechanisms.</a:t>
            </a:r>
          </a:p>
          <a:p/>
          <a:p>
            <a:r>
              <a:rPr sz="1400"/>
              <a:t>First, non-invertible projection. When a 3D chart becomes a 2D image, you lose depth information. You cannot recover exact values from one view.</a:t>
            </a:r>
          </a:p>
          <a:p/>
          <a:p>
            <a:r>
              <a:rPr sz="1400"/>
              <a:t>Second, foreshortening. Bars farther from the camera appear shorter than equally-valued bars in front.</a:t>
            </a:r>
          </a:p>
          <a:p/>
          <a:p>
            <a:r>
              <a:rPr sz="1400"/>
              <a:t>Third, occlusion. Front elements physically hide rear elements. Information is literally removed from the image.</a:t>
            </a:r>
          </a:p>
          <a:p/>
          <a:p>
            <a:r>
              <a:rPr sz="1400"/>
              <a:t>Fourth, unequal scaling. Perspective makes identical data increments occupy different pixel heights at different depths.</a:t>
            </a:r>
          </a:p>
          <a:p/>
          <a:p>
            <a:r>
              <a:rPr sz="1400"/>
              <a:t>The critical point is on the right: VLMs see only a single static 2D projection. Unlike humans in VR, they cannot rotate the view, look behind bars, or use stereo depth. They are stuck with one perspective.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[HEMANJALI]</a:t>
            </a:r>
          </a:p>
          <a:p/>
          <a:p>
            <a:r>
              <a:rPr sz="1400"/>
              <a:t>Now our most important finding — what we call the invisible ground truth problem.</a:t>
            </a:r>
          </a:p>
          <a:p/>
          <a:p>
            <a:r>
              <a:rPr sz="1400"/>
              <a:t>Look at this treemap on the right. What do you see? Colored rectangles and category names. No numbers anywhere.</a:t>
            </a:r>
          </a:p>
          <a:p/>
          <a:p>
            <a:r>
              <a:rPr sz="1400"/>
              <a:t>But the ground truth expects exact percentages — like "20 percent" or "34 percent." These numbers come from the CSV data file used to generate the chart, not from anything visible in the image.</a:t>
            </a:r>
          </a:p>
          <a:p/>
          <a:p>
            <a:r>
              <a:rPr sz="1400"/>
              <a:t>The model is being asked to read numbers that do not exist in the image. Even humans cannot extract exact percentages from rectangle areas without labels. Stevens' Power Law tells us this is a fundamental perceptual limitation, not a model limitation.</a:t>
            </a:r>
          </a:p>
          <a:p/>
          <a:p>
            <a:r>
              <a:rPr sz="1400"/>
              <a:t>ChartX's own paper acknowledges this. They write: "the column label of values is usually invisible" for treemaps. We estimate that correcting for these unanswerable questions would raise treemap accuracy from 52 percent to about 70 to 75 percent.</a:t>
            </a:r>
          </a:p>
          <a:p/>
          <a:p>
            <a:r>
              <a:rPr sz="1400"/>
              <a:t>This is a benchmark design issue, not a VLM failure.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[HEMANJALI]</a:t>
            </a:r>
          </a:p>
          <a:p/>
          <a:p>
            <a:r>
              <a:rPr sz="1400"/>
              <a:t>Let me walk you through the failure analysis for the four weakest chart types.</a:t>
            </a:r>
          </a:p>
          <a:p/>
          <a:p>
            <a:r>
              <a:rPr sz="1400"/>
              <a:t>We classified every incorrect answer into three categories: completely wrong, close but outside tolerance, and format mismatch.</a:t>
            </a:r>
          </a:p>
          <a:p/>
          <a:p>
            <a:r>
              <a:rPr sz="1400"/>
              <a:t>For treemaps, 79 percent of failures are completely wrong — the model is guessing because there are no numbers to read. For radar charts, 22 percent are format mismatches — the model knows the answer but phrases it differently. For bubble charts, the model cannot read values from bubble size. And for area charts, it confuses individual values with cumulative stacked values.</a:t>
            </a:r>
          </a:p>
          <a:p/>
          <a:p>
            <a:r>
              <a:rPr sz="1400"/>
              <a:t>These different failure patterns mean different chart types fail for different reasons. A one-size-fits-all solution will not work.</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[HEMANJALI]</a:t>
            </a:r>
          </a:p>
          <a:p/>
          <a:p>
            <a:r>
              <a:rPr sz="1400"/>
              <a:t>Based on all our findings, we propose six design guidelines.</a:t>
            </a:r>
          </a:p>
          <a:p/>
          <a:p>
            <a:r>
              <a:rPr sz="1400"/>
              <a:t>G1: Use position-encoded charts like bar and line for VLM tasks — they achieve 90 percent plus.</a:t>
            </a:r>
          </a:p>
          <a:p/>
          <a:p>
            <a:r>
              <a:rPr sz="1400"/>
              <a:t>G2: Always include numeric labels. Adding labels increases bar chart accuracy by 4.4 percentage points.</a:t>
            </a:r>
          </a:p>
          <a:p/>
          <a:p>
            <a:r>
              <a:rPr sz="1400"/>
              <a:t>G3: Flatten 3D charts before VLM processing. Render 2D projections or provide data tables.</a:t>
            </a:r>
          </a:p>
          <a:p/>
          <a:p>
            <a:r>
              <a:rPr sz="1400"/>
              <a:t>G4: Use tiered scoring tolerance — 5 percent for bar and line, 25 percent for treemap.</a:t>
            </a:r>
          </a:p>
          <a:p/>
          <a:p>
            <a:r>
              <a:rPr sz="1400"/>
              <a:t>G5: Structure prompts as describe, extract, then reason pipelines.</a:t>
            </a:r>
          </a:p>
          <a:p/>
          <a:p>
            <a:r>
              <a:rPr sz="1400"/>
              <a:t>G6: In VR systems, pass DXR JSON specifications alongside viewport images so the VLM has access to the data values and encodings, not just the visual.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[HEMANJALI]</a:t>
            </a:r>
          </a:p>
          <a:p/>
          <a:p>
            <a:r>
              <a:rPr sz="1400"/>
              <a:t>This slide connects our work to immersive analytics and the DXR toolkit.</a:t>
            </a:r>
          </a:p>
          <a:p/>
          <a:p>
            <a:r>
              <a:rPr sz="1400"/>
              <a:t>DXR is a Unity toolkit for building VR data visualizations. You define charts using JSON specifications — chart type, data encodings, interactions — and DXR renders them in 3D for Meta Quest headsets.</a:t>
            </a:r>
          </a:p>
          <a:p/>
          <a:p>
            <a:r>
              <a:rPr sz="1400"/>
              <a:t>Our results predict what happens when a VLM tries to interpret these 3D charts. Based on our findings, a VLM reading a DXR viewport screenshot would achieve about 59 percent on bar charts.</a:t>
            </a:r>
          </a:p>
          <a:p/>
          <a:p>
            <a:r>
              <a:rPr sz="1400"/>
              <a:t>But Guideline 6 offers a solution: the same DXR JSON that defines the chart for rendering can be passed to the VLM as structured context alongside the image. This gives the model both the visual and the data, compensating for information lost in 3D projection.</a:t>
            </a:r>
          </a:p>
          <a:p/>
          <a:p>
            <a:r>
              <a:rPr sz="1400"/>
              <a:t>The architecture is on the right: user sees the chart in VR, the VLM receives the viewport plus DXR JSON, answers the question, and the answer appears as a VR overlay.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[HEMANJALI]</a:t>
            </a:r>
          </a:p>
          <a:p/>
          <a:p>
            <a:r>
              <a:rPr sz="1400"/>
              <a:t>Here is how our work compares to prior studies.</a:t>
            </a:r>
          </a:p>
          <a:p/>
          <a:p>
            <a:r>
              <a:rPr sz="1400"/>
              <a:t>Kim et al. tested GPT-4V on custom tasks and got 60 to 78 percent. Pandey and Ottley tested four VLMs on VLAT and found the same pattern we see — line charts score high, bubble charts score low. Islam et al. did the first multi-benchmark evaluation.</a:t>
            </a:r>
          </a:p>
          <a:p/>
          <a:p>
            <a:r>
              <a:rPr sz="1400"/>
              <a:t>Our contributions are: the broadest chart type diversity at 18 types, the first identification of invisible ground truth as a systematic flaw, the first mapping of VLM accuracy to Cleveland and McGill's hierarchy, the first design guidelines for VLM plus immersive analytics, and the largest single-benchmark evaluation with 5,713 images.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[HEMANJALI]</a:t>
            </a:r>
          </a:p>
          <a:p/>
          <a:p>
            <a:r>
              <a:rPr sz="1400"/>
              <a:t>We want to be transparent about limitations. We tested only GPT-5.4 — cross-model comparison would strengthen the findings. ChartX has only one question per chart. The 3D evaluation covers only bar charts. And we tested static images, not live VR screenshots.</a:t>
            </a:r>
          </a:p>
          <a:p/>
          <a:p>
            <a:r>
              <a:rPr sz="1400"/>
              <a:t>For future work, we plan to use DXR in Unity to render immersive 3D charts for Meta Quest. We want to test multi-viewpoint input with 3 to 6 camera angles. We plan structured grounding with system state JSON. We want multi-model comparison. And eventually a human study comparing VLM-assisted versus unassisted chart reading in VR.</a:t>
            </a:r>
          </a:p>
          <a:p/>
          <a:p>
            <a:r>
              <a:rPr sz="1400"/>
              <a:t>Now I will hand back to Naga for the summary.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[NAGA]</a:t>
            </a:r>
          </a:p>
          <a:p/>
          <a:p>
            <a:r>
              <a:rPr sz="1400"/>
              <a:t>Let me summarize our three key findings.</a:t>
            </a:r>
          </a:p>
          <a:p/>
          <a:p>
            <a:r>
              <a:rPr sz="1400"/>
              <a:t>One: GPT-5.4 achieves 85.7 percent on 2D but drops to 59.3 percent on 3D. VLMs are strong on flat charts but collapse under 3D perspective.</a:t>
            </a:r>
          </a:p>
          <a:p/>
          <a:p>
            <a:r>
              <a:rPr sz="1400"/>
              <a:t>Two: The 43-point gap between chart types follows the perceptual hierarchy. Position-encoded charts score 92 to 95 percent. Area-encoded charts score 52 to 71 percent. Exactly as Cleveland and McGill predicted in 1984.</a:t>
            </a:r>
          </a:p>
          <a:p/>
          <a:p>
            <a:r>
              <a:rPr sz="1400"/>
              <a:t>Three: Some treemap failures are a benchmark problem, not a model problem. The image contains no numbers, but the ground truth expects exact percentages.</a:t>
            </a:r>
          </a:p>
          <a:p/>
          <a:p>
            <a:r>
              <a:rPr sz="1400"/>
              <a:t>Our takeaway: VLM chart comprehension follows the same perceptual hierarchy as human vision. Position is easy. Area is hard. 3D makes everything worse.</a:t>
            </a:r>
          </a:p>
          <a:p/>
          <a:p>
            <a:r>
              <a:rPr sz="1400"/>
              <a:t>Thank you very much. We are happy to take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914400" y="1371600"/>
            <a:ext cx="10058400" cy="1371600"/>
          </a:xfrm>
          <a:prstGeom prst="rect">
            <a:avLst/>
          </a:prstGeom>
          <a:noFill/>
        </p:spPr>
        <p:txBody>
          <a:bodyPr wrap="square">
            <a:spAutoFit/>
          </a:bodyPr>
          <a:lstStyle/>
          <a:p>
            <a:pPr algn="ctr">
              <a:defRPr sz="3200" b="1">
                <a:solidFill>
                  <a:srgbClr val="FFFFFF"/>
                </a:solidFill>
                <a:latin typeface="Calibri"/>
              </a:defRPr>
            </a:pPr>
            <a:r>
              <a:t>An Empirical Evaluation of Vision-Language Model</a:t>
            </a:r>
            <a:br/>
            <a:r>
              <a:t>Visualization Literacy Across 18 Chart Types</a:t>
            </a:r>
          </a:p>
        </p:txBody>
      </p:sp>
      <p:sp>
        <p:nvSpPr>
          <p:cNvPr id="3" name="TextBox 2"/>
          <p:cNvSpPr txBox="1"/>
          <p:nvPr/>
        </p:nvSpPr>
        <p:spPr>
          <a:xfrm>
            <a:off x="914400" y="3017520"/>
            <a:ext cx="10058400" cy="457200"/>
          </a:xfrm>
          <a:prstGeom prst="rect">
            <a:avLst/>
          </a:prstGeom>
          <a:noFill/>
        </p:spPr>
        <p:txBody>
          <a:bodyPr wrap="square">
            <a:spAutoFit/>
          </a:bodyPr>
          <a:lstStyle/>
          <a:p>
            <a:pPr algn="ctr">
              <a:defRPr sz="2200" b="0">
                <a:solidFill>
                  <a:srgbClr val="0096FF"/>
                </a:solidFill>
                <a:latin typeface="Calibri"/>
              </a:defRPr>
            </a:pPr>
            <a:r>
              <a:t>Insights for Immersive Analytics</a:t>
            </a:r>
          </a:p>
        </p:txBody>
      </p:sp>
      <p:sp>
        <p:nvSpPr>
          <p:cNvPr id="4" name="TextBox 3"/>
          <p:cNvSpPr txBox="1"/>
          <p:nvPr/>
        </p:nvSpPr>
        <p:spPr>
          <a:xfrm>
            <a:off x="914400" y="4114800"/>
            <a:ext cx="10058400" cy="731520"/>
          </a:xfrm>
          <a:prstGeom prst="rect">
            <a:avLst/>
          </a:prstGeom>
          <a:noFill/>
        </p:spPr>
        <p:txBody>
          <a:bodyPr wrap="square">
            <a:spAutoFit/>
          </a:bodyPr>
          <a:lstStyle/>
          <a:p>
            <a:pPr algn="ctr">
              <a:defRPr sz="1800" b="0">
                <a:solidFill>
                  <a:srgbClr val="CCCCCC"/>
                </a:solidFill>
                <a:latin typeface="Calibri"/>
              </a:defRPr>
            </a:pPr>
            <a:r>
              <a:t>Naga Venkata Sai Chennu  |  Hemanjali Buchireddy</a:t>
            </a:r>
          </a:p>
        </p:txBody>
      </p:sp>
      <p:sp>
        <p:nvSpPr>
          <p:cNvPr id="5" name="TextBox 4"/>
          <p:cNvSpPr txBox="1"/>
          <p:nvPr/>
        </p:nvSpPr>
        <p:spPr>
          <a:xfrm>
            <a:off x="914400" y="4846320"/>
            <a:ext cx="10058400" cy="457200"/>
          </a:xfrm>
          <a:prstGeom prst="rect">
            <a:avLst/>
          </a:prstGeom>
          <a:noFill/>
        </p:spPr>
        <p:txBody>
          <a:bodyPr wrap="square">
            <a:spAutoFit/>
          </a:bodyPr>
          <a:lstStyle/>
          <a:p>
            <a:pPr algn="ctr">
              <a:defRPr sz="1400" b="0">
                <a:solidFill>
                  <a:srgbClr val="CCCCCC"/>
                </a:solidFill>
                <a:latin typeface="Calibri"/>
              </a:defRPr>
            </a:pPr>
            <a:r>
              <a:t>CS 692: Mobile Immersive Computing  |  George Mason University</a:t>
            </a:r>
          </a:p>
        </p:txBody>
      </p:sp>
      <p:sp>
        <p:nvSpPr>
          <p:cNvPr id="6" name="TextBox 5"/>
          <p:cNvSpPr txBox="1"/>
          <p:nvPr/>
        </p:nvSpPr>
        <p:spPr>
          <a:xfrm>
            <a:off x="914400" y="5303520"/>
            <a:ext cx="10058400" cy="457200"/>
          </a:xfrm>
          <a:prstGeom prst="rect">
            <a:avLst/>
          </a:prstGeom>
          <a:noFill/>
        </p:spPr>
        <p:txBody>
          <a:bodyPr wrap="square">
            <a:spAutoFit/>
          </a:bodyPr>
          <a:lstStyle/>
          <a:p>
            <a:pPr algn="ctr">
              <a:defRPr sz="1400" b="0">
                <a:solidFill>
                  <a:srgbClr val="CCCCCC"/>
                </a:solidFill>
                <a:latin typeface="Calibri"/>
              </a:defRPr>
            </a:pPr>
            <a:r>
              <a:t>Advisor: Dr. Bo Han  |  Collaborator: Fahim Arsad Nafis</a:t>
            </a:r>
          </a:p>
        </p:txBody>
      </p:sp>
      <p:sp>
        <p:nvSpPr>
          <p:cNvPr id="7" name="TextBox 6"/>
          <p:cNvSpPr txBox="1"/>
          <p:nvPr/>
        </p:nvSpPr>
        <p:spPr>
          <a:xfrm>
            <a:off x="914400" y="5943600"/>
            <a:ext cx="10058400" cy="365760"/>
          </a:xfrm>
          <a:prstGeom prst="rect">
            <a:avLst/>
          </a:prstGeom>
          <a:noFill/>
        </p:spPr>
        <p:txBody>
          <a:bodyPr wrap="square">
            <a:spAutoFit/>
          </a:bodyPr>
          <a:lstStyle/>
          <a:p>
            <a:pPr algn="ctr">
              <a:defRPr sz="1400" b="0">
                <a:solidFill>
                  <a:srgbClr val="0096FF"/>
                </a:solidFill>
                <a:latin typeface="Calibri"/>
              </a:defRPr>
            </a:pPr>
            <a:r>
              <a:t>April 17,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731520" y="274320"/>
            <a:ext cx="10058400" cy="548640"/>
          </a:xfrm>
          <a:prstGeom prst="rect">
            <a:avLst/>
          </a:prstGeom>
          <a:noFill/>
        </p:spPr>
        <p:txBody>
          <a:bodyPr wrap="square">
            <a:spAutoFit/>
          </a:bodyPr>
          <a:lstStyle/>
          <a:p>
            <a:pPr algn="l">
              <a:defRPr sz="2800" b="1">
                <a:solidFill>
                  <a:srgbClr val="FFFFFF"/>
                </a:solidFill>
                <a:latin typeface="Calibri"/>
              </a:defRPr>
            </a:pPr>
            <a:r>
              <a:t>Project Overview</a:t>
            </a:r>
          </a:p>
        </p:txBody>
      </p:sp>
      <p:sp>
        <p:nvSpPr>
          <p:cNvPr id="3" name="TextBox 2"/>
          <p:cNvSpPr txBox="1"/>
          <p:nvPr/>
        </p:nvSpPr>
        <p:spPr>
          <a:xfrm>
            <a:off x="731520" y="1097280"/>
            <a:ext cx="5029200" cy="457200"/>
          </a:xfrm>
          <a:prstGeom prst="rect">
            <a:avLst/>
          </a:prstGeom>
          <a:noFill/>
        </p:spPr>
        <p:txBody>
          <a:bodyPr wrap="square">
            <a:spAutoFit/>
          </a:bodyPr>
          <a:lstStyle/>
          <a:p>
            <a:pPr algn="l">
              <a:defRPr sz="1800" b="1">
                <a:solidFill>
                  <a:srgbClr val="0096FF"/>
                </a:solidFill>
                <a:latin typeface="Calibri"/>
              </a:defRPr>
            </a:pPr>
            <a:r>
              <a:t>Research Question</a:t>
            </a:r>
          </a:p>
        </p:txBody>
      </p:sp>
      <p:sp>
        <p:nvSpPr>
          <p:cNvPr id="4" name="TextBox 3"/>
          <p:cNvSpPr txBox="1"/>
          <p:nvPr/>
        </p:nvSpPr>
        <p:spPr>
          <a:xfrm>
            <a:off x="731520" y="1645920"/>
            <a:ext cx="5029200" cy="914400"/>
          </a:xfrm>
          <a:prstGeom prst="rect">
            <a:avLst/>
          </a:prstGeom>
          <a:noFill/>
        </p:spPr>
        <p:txBody>
          <a:bodyPr wrap="square">
            <a:spAutoFit/>
          </a:bodyPr>
          <a:lstStyle/>
          <a:p>
            <a:pPr algn="l">
              <a:defRPr sz="1600" b="0">
                <a:solidFill>
                  <a:srgbClr val="FFFFFF"/>
                </a:solidFill>
                <a:latin typeface="Calibri"/>
              </a:defRPr>
            </a:pPr>
            <a:r>
              <a:t>How well can Vision-Language Models understand data visualizations — and what happens when charts move from 2D to 3D (immersive)?</a:t>
            </a:r>
          </a:p>
        </p:txBody>
      </p:sp>
      <p:sp>
        <p:nvSpPr>
          <p:cNvPr id="5" name="TextBox 4"/>
          <p:cNvSpPr txBox="1"/>
          <p:nvPr/>
        </p:nvSpPr>
        <p:spPr>
          <a:xfrm>
            <a:off x="731520" y="2743200"/>
            <a:ext cx="5029200" cy="457200"/>
          </a:xfrm>
          <a:prstGeom prst="rect">
            <a:avLst/>
          </a:prstGeom>
          <a:noFill/>
        </p:spPr>
        <p:txBody>
          <a:bodyPr wrap="square">
            <a:spAutoFit/>
          </a:bodyPr>
          <a:lstStyle/>
          <a:p>
            <a:pPr algn="l">
              <a:defRPr sz="1800" b="1">
                <a:solidFill>
                  <a:srgbClr val="0096FF"/>
                </a:solidFill>
                <a:latin typeface="Calibri"/>
              </a:defRPr>
            </a:pPr>
            <a:r>
              <a:t>What We Did</a:t>
            </a:r>
          </a:p>
        </p:txBody>
      </p:sp>
      <p:sp>
        <p:nvSpPr>
          <p:cNvPr id="6" name="TextBox 5"/>
          <p:cNvSpPr txBox="1"/>
          <p:nvPr/>
        </p:nvSpPr>
        <p:spPr>
          <a:xfrm>
            <a:off x="731520" y="3200400"/>
            <a:ext cx="5029200" cy="2286000"/>
          </a:xfrm>
          <a:prstGeom prst="rect">
            <a:avLst/>
          </a:prstGeom>
          <a:noFill/>
        </p:spPr>
        <p:txBody>
          <a:bodyPr wrap="square">
            <a:spAutoFit/>
          </a:bodyPr>
          <a:lstStyle/>
          <a:p>
            <a:pPr>
              <a:spcAft>
                <a:spcPts val="600"/>
              </a:spcAft>
              <a:defRPr sz="1400">
                <a:solidFill>
                  <a:srgbClr val="FFFFFF"/>
                </a:solidFill>
                <a:latin typeface="Calibri"/>
              </a:defRPr>
            </a:pPr>
            <a:r>
              <a:t>•  Evaluated GPT-5.4 on ChartX benchmark</a:t>
            </a:r>
          </a:p>
          <a:p>
            <a:pPr>
              <a:spcAft>
                <a:spcPts val="600"/>
              </a:spcAft>
              <a:defRPr sz="1400">
                <a:solidFill>
                  <a:srgbClr val="FFFFFF"/>
                </a:solidFill>
                <a:latin typeface="Calibri"/>
              </a:defRPr>
            </a:pPr>
            <a:r>
              <a:t>•  6,000 chart images × 18 chart types × 22 topics</a:t>
            </a:r>
          </a:p>
          <a:p>
            <a:pPr>
              <a:spcAft>
                <a:spcPts val="600"/>
              </a:spcAft>
              <a:defRPr sz="1400">
                <a:solidFill>
                  <a:srgbClr val="FFFFFF"/>
                </a:solidFill>
                <a:latin typeface="Calibri"/>
              </a:defRPr>
            </a:pPr>
            <a:r>
              <a:t>•  5,720 2D images + 280 3D bar chart images</a:t>
            </a:r>
          </a:p>
          <a:p>
            <a:pPr>
              <a:spcAft>
                <a:spcPts val="600"/>
              </a:spcAft>
              <a:defRPr sz="1400">
                <a:solidFill>
                  <a:srgbClr val="FFFFFF"/>
                </a:solidFill>
                <a:latin typeface="Calibri"/>
              </a:defRPr>
            </a:pPr>
            <a:r>
              <a:t>•  Original images &amp; QA pairs from the dataset</a:t>
            </a:r>
          </a:p>
          <a:p>
            <a:pPr>
              <a:spcAft>
                <a:spcPts val="600"/>
              </a:spcAft>
              <a:defRPr sz="1400">
                <a:solidFill>
                  <a:srgbClr val="FFFFFF"/>
                </a:solidFill>
                <a:latin typeface="Calibri"/>
              </a:defRPr>
            </a:pPr>
            <a:r>
              <a:t>•  Zero-shot, temperature=0, fully automated</a:t>
            </a:r>
          </a:p>
        </p:txBody>
      </p:sp>
      <p:sp>
        <p:nvSpPr>
          <p:cNvPr id="7" name="TextBox 6"/>
          <p:cNvSpPr txBox="1"/>
          <p:nvPr/>
        </p:nvSpPr>
        <p:spPr>
          <a:xfrm>
            <a:off x="6400800" y="1097280"/>
            <a:ext cx="5029200" cy="457200"/>
          </a:xfrm>
          <a:prstGeom prst="rect">
            <a:avLst/>
          </a:prstGeom>
          <a:noFill/>
        </p:spPr>
        <p:txBody>
          <a:bodyPr wrap="square">
            <a:spAutoFit/>
          </a:bodyPr>
          <a:lstStyle/>
          <a:p>
            <a:pPr algn="l">
              <a:defRPr sz="1800" b="1">
                <a:solidFill>
                  <a:srgbClr val="0096FF"/>
                </a:solidFill>
                <a:latin typeface="Calibri"/>
              </a:defRPr>
            </a:pPr>
            <a:r>
              <a:t>Key Numbers</a:t>
            </a:r>
          </a:p>
        </p:txBody>
      </p:sp>
      <p:sp>
        <p:nvSpPr>
          <p:cNvPr id="8" name="Rounded Rectangle 7"/>
          <p:cNvSpPr/>
          <p:nvPr/>
        </p:nvSpPr>
        <p:spPr>
          <a:xfrm>
            <a:off x="6400800" y="1828800"/>
            <a:ext cx="2286000" cy="1005840"/>
          </a:xfrm>
          <a:prstGeom prst="roundRect">
            <a:avLst/>
          </a:prstGeom>
          <a:solidFill>
            <a:srgbClr val="20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920240"/>
            <a:ext cx="2286000" cy="548640"/>
          </a:xfrm>
          <a:prstGeom prst="rect">
            <a:avLst/>
          </a:prstGeom>
          <a:noFill/>
        </p:spPr>
        <p:txBody>
          <a:bodyPr wrap="square">
            <a:spAutoFit/>
          </a:bodyPr>
          <a:lstStyle/>
          <a:p>
            <a:pPr algn="ctr">
              <a:defRPr sz="3600" b="1">
                <a:solidFill>
                  <a:srgbClr val="4CAF50"/>
                </a:solidFill>
                <a:latin typeface="Calibri"/>
              </a:defRPr>
            </a:pPr>
            <a:r>
              <a:t>85.7%</a:t>
            </a:r>
          </a:p>
        </p:txBody>
      </p:sp>
      <p:sp>
        <p:nvSpPr>
          <p:cNvPr id="10" name="TextBox 9"/>
          <p:cNvSpPr txBox="1"/>
          <p:nvPr/>
        </p:nvSpPr>
        <p:spPr>
          <a:xfrm>
            <a:off x="6400800" y="2468880"/>
            <a:ext cx="2286000" cy="365760"/>
          </a:xfrm>
          <a:prstGeom prst="rect">
            <a:avLst/>
          </a:prstGeom>
          <a:noFill/>
        </p:spPr>
        <p:txBody>
          <a:bodyPr wrap="square">
            <a:spAutoFit/>
          </a:bodyPr>
          <a:lstStyle/>
          <a:p>
            <a:pPr algn="ctr">
              <a:defRPr sz="1400" b="0">
                <a:solidFill>
                  <a:srgbClr val="CCCCCC"/>
                </a:solidFill>
                <a:latin typeface="Calibri"/>
              </a:defRPr>
            </a:pPr>
            <a:r>
              <a:t>2D Accuracy</a:t>
            </a:r>
          </a:p>
        </p:txBody>
      </p:sp>
      <p:sp>
        <p:nvSpPr>
          <p:cNvPr id="11" name="Rounded Rectangle 10"/>
          <p:cNvSpPr/>
          <p:nvPr/>
        </p:nvSpPr>
        <p:spPr>
          <a:xfrm>
            <a:off x="8961120" y="1828800"/>
            <a:ext cx="2286000" cy="1005840"/>
          </a:xfrm>
          <a:prstGeom prst="roundRect">
            <a:avLst/>
          </a:prstGeom>
          <a:solidFill>
            <a:srgbClr val="20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0" y="1920240"/>
            <a:ext cx="2286000" cy="548640"/>
          </a:xfrm>
          <a:prstGeom prst="rect">
            <a:avLst/>
          </a:prstGeom>
          <a:noFill/>
        </p:spPr>
        <p:txBody>
          <a:bodyPr wrap="square">
            <a:spAutoFit/>
          </a:bodyPr>
          <a:lstStyle/>
          <a:p>
            <a:pPr algn="ctr">
              <a:defRPr sz="3600" b="1">
                <a:solidFill>
                  <a:srgbClr val="F44336"/>
                </a:solidFill>
                <a:latin typeface="Calibri"/>
              </a:defRPr>
            </a:pPr>
            <a:r>
              <a:t>59.3%</a:t>
            </a:r>
          </a:p>
        </p:txBody>
      </p:sp>
      <p:sp>
        <p:nvSpPr>
          <p:cNvPr id="13" name="TextBox 12"/>
          <p:cNvSpPr txBox="1"/>
          <p:nvPr/>
        </p:nvSpPr>
        <p:spPr>
          <a:xfrm>
            <a:off x="8961120" y="2468880"/>
            <a:ext cx="2286000" cy="365760"/>
          </a:xfrm>
          <a:prstGeom prst="rect">
            <a:avLst/>
          </a:prstGeom>
          <a:noFill/>
        </p:spPr>
        <p:txBody>
          <a:bodyPr wrap="square">
            <a:spAutoFit/>
          </a:bodyPr>
          <a:lstStyle/>
          <a:p>
            <a:pPr algn="ctr">
              <a:defRPr sz="1400" b="0">
                <a:solidFill>
                  <a:srgbClr val="CCCCCC"/>
                </a:solidFill>
                <a:latin typeface="Calibri"/>
              </a:defRPr>
            </a:pPr>
            <a:r>
              <a:t>3D Accuracy</a:t>
            </a:r>
          </a:p>
        </p:txBody>
      </p:sp>
      <p:sp>
        <p:nvSpPr>
          <p:cNvPr id="14" name="Rounded Rectangle 13"/>
          <p:cNvSpPr/>
          <p:nvPr/>
        </p:nvSpPr>
        <p:spPr>
          <a:xfrm>
            <a:off x="6400800" y="3200400"/>
            <a:ext cx="2286000" cy="1005840"/>
          </a:xfrm>
          <a:prstGeom prst="roundRect">
            <a:avLst/>
          </a:prstGeom>
          <a:solidFill>
            <a:srgbClr val="20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3291840"/>
            <a:ext cx="2286000" cy="548640"/>
          </a:xfrm>
          <a:prstGeom prst="rect">
            <a:avLst/>
          </a:prstGeom>
          <a:noFill/>
        </p:spPr>
        <p:txBody>
          <a:bodyPr wrap="square">
            <a:spAutoFit/>
          </a:bodyPr>
          <a:lstStyle/>
          <a:p>
            <a:pPr algn="ctr">
              <a:defRPr sz="3600" b="1">
                <a:solidFill>
                  <a:srgbClr val="FF9800"/>
                </a:solidFill>
                <a:latin typeface="Calibri"/>
              </a:defRPr>
            </a:pPr>
            <a:r>
              <a:t>43.7pp</a:t>
            </a:r>
          </a:p>
        </p:txBody>
      </p:sp>
      <p:sp>
        <p:nvSpPr>
          <p:cNvPr id="16" name="TextBox 15"/>
          <p:cNvSpPr txBox="1"/>
          <p:nvPr/>
        </p:nvSpPr>
        <p:spPr>
          <a:xfrm>
            <a:off x="6400800" y="3840480"/>
            <a:ext cx="2286000" cy="365760"/>
          </a:xfrm>
          <a:prstGeom prst="rect">
            <a:avLst/>
          </a:prstGeom>
          <a:noFill/>
        </p:spPr>
        <p:txBody>
          <a:bodyPr wrap="square">
            <a:spAutoFit/>
          </a:bodyPr>
          <a:lstStyle/>
          <a:p>
            <a:pPr algn="ctr">
              <a:defRPr sz="1400" b="0">
                <a:solidFill>
                  <a:srgbClr val="CCCCCC"/>
                </a:solidFill>
                <a:latin typeface="Calibri"/>
              </a:defRPr>
            </a:pPr>
            <a:r>
              <a:t>Type Gap</a:t>
            </a:r>
          </a:p>
        </p:txBody>
      </p:sp>
      <p:sp>
        <p:nvSpPr>
          <p:cNvPr id="17" name="Rounded Rectangle 16"/>
          <p:cNvSpPr/>
          <p:nvPr/>
        </p:nvSpPr>
        <p:spPr>
          <a:xfrm>
            <a:off x="8961120" y="3200400"/>
            <a:ext cx="2286000" cy="1005840"/>
          </a:xfrm>
          <a:prstGeom prst="roundRect">
            <a:avLst/>
          </a:prstGeom>
          <a:solidFill>
            <a:srgbClr val="20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961120" y="3291840"/>
            <a:ext cx="2286000" cy="548640"/>
          </a:xfrm>
          <a:prstGeom prst="rect">
            <a:avLst/>
          </a:prstGeom>
          <a:noFill/>
        </p:spPr>
        <p:txBody>
          <a:bodyPr wrap="square">
            <a:spAutoFit/>
          </a:bodyPr>
          <a:lstStyle/>
          <a:p>
            <a:pPr algn="ctr">
              <a:defRPr sz="3600" b="1">
                <a:solidFill>
                  <a:srgbClr val="0096FF"/>
                </a:solidFill>
                <a:latin typeface="Calibri"/>
              </a:defRPr>
            </a:pPr>
            <a:r>
              <a:t>6,000</a:t>
            </a:r>
          </a:p>
        </p:txBody>
      </p:sp>
      <p:sp>
        <p:nvSpPr>
          <p:cNvPr id="19" name="TextBox 18"/>
          <p:cNvSpPr txBox="1"/>
          <p:nvPr/>
        </p:nvSpPr>
        <p:spPr>
          <a:xfrm>
            <a:off x="8961120" y="3840480"/>
            <a:ext cx="2286000" cy="365760"/>
          </a:xfrm>
          <a:prstGeom prst="rect">
            <a:avLst/>
          </a:prstGeom>
          <a:noFill/>
        </p:spPr>
        <p:txBody>
          <a:bodyPr wrap="square">
            <a:spAutoFit/>
          </a:bodyPr>
          <a:lstStyle/>
          <a:p>
            <a:pPr algn="ctr">
              <a:defRPr sz="1400" b="0">
                <a:solidFill>
                  <a:srgbClr val="CCCCCC"/>
                </a:solidFill>
                <a:latin typeface="Calibri"/>
              </a:defRPr>
            </a:pPr>
            <a:r>
              <a:t>Images Tested</a:t>
            </a:r>
          </a:p>
        </p:txBody>
      </p:sp>
      <p:sp>
        <p:nvSpPr>
          <p:cNvPr id="20" name="TextBox 19"/>
          <p:cNvSpPr txBox="1"/>
          <p:nvPr/>
        </p:nvSpPr>
        <p:spPr>
          <a:xfrm>
            <a:off x="6400800" y="4572000"/>
            <a:ext cx="5029200" cy="457200"/>
          </a:xfrm>
          <a:prstGeom prst="rect">
            <a:avLst/>
          </a:prstGeom>
          <a:noFill/>
        </p:spPr>
        <p:txBody>
          <a:bodyPr wrap="square">
            <a:spAutoFit/>
          </a:bodyPr>
          <a:lstStyle/>
          <a:p>
            <a:pPr algn="l">
              <a:defRPr sz="1800" b="1">
                <a:solidFill>
                  <a:srgbClr val="0096FF"/>
                </a:solidFill>
                <a:latin typeface="Calibri"/>
              </a:defRPr>
            </a:pPr>
            <a:r>
              <a:t>Why It Matters</a:t>
            </a:r>
          </a:p>
        </p:txBody>
      </p:sp>
      <p:sp>
        <p:nvSpPr>
          <p:cNvPr id="21" name="TextBox 20"/>
          <p:cNvSpPr txBox="1"/>
          <p:nvPr/>
        </p:nvSpPr>
        <p:spPr>
          <a:xfrm>
            <a:off x="6400800" y="5029200"/>
            <a:ext cx="5029200" cy="1097280"/>
          </a:xfrm>
          <a:prstGeom prst="rect">
            <a:avLst/>
          </a:prstGeom>
          <a:noFill/>
        </p:spPr>
        <p:txBody>
          <a:bodyPr wrap="square">
            <a:spAutoFit/>
          </a:bodyPr>
          <a:lstStyle/>
          <a:p>
            <a:pPr algn="l">
              <a:defRPr sz="1400" b="0">
                <a:solidFill>
                  <a:srgbClr val="CCCCCC"/>
                </a:solidFill>
                <a:latin typeface="Calibri"/>
              </a:defRPr>
            </a:pPr>
            <a:r>
              <a:t>Immersive analytics (VR/AR) uses 3D charts by default. If VLMs can’t read 3D charts, they can’t assist users in VR. No prior work evaluates VLMs across this many chart types.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731520" y="274320"/>
            <a:ext cx="10058400" cy="548640"/>
          </a:xfrm>
          <a:prstGeom prst="rect">
            <a:avLst/>
          </a:prstGeom>
          <a:noFill/>
        </p:spPr>
        <p:txBody>
          <a:bodyPr wrap="square">
            <a:spAutoFit/>
          </a:bodyPr>
          <a:lstStyle/>
          <a:p>
            <a:pPr algn="l">
              <a:defRPr sz="2800" b="1">
                <a:solidFill>
                  <a:srgbClr val="FFFFFF"/>
                </a:solidFill>
                <a:latin typeface="Calibri"/>
              </a:defRPr>
            </a:pPr>
            <a:r>
              <a:t>The ChartX Benchmark Dataset</a:t>
            </a:r>
          </a:p>
        </p:txBody>
      </p:sp>
      <p:sp>
        <p:nvSpPr>
          <p:cNvPr id="3" name="TextBox 2"/>
          <p:cNvSpPr txBox="1"/>
          <p:nvPr/>
        </p:nvSpPr>
        <p:spPr>
          <a:xfrm>
            <a:off x="731520" y="1097280"/>
            <a:ext cx="5029200" cy="457200"/>
          </a:xfrm>
          <a:prstGeom prst="rect">
            <a:avLst/>
          </a:prstGeom>
          <a:noFill/>
        </p:spPr>
        <p:txBody>
          <a:bodyPr wrap="square">
            <a:spAutoFit/>
          </a:bodyPr>
          <a:lstStyle/>
          <a:p>
            <a:pPr algn="l">
              <a:defRPr sz="1800" b="1">
                <a:solidFill>
                  <a:srgbClr val="0096FF"/>
                </a:solidFill>
                <a:latin typeface="Calibri"/>
              </a:defRPr>
            </a:pPr>
            <a:r>
              <a:t>Dataset Details</a:t>
            </a:r>
          </a:p>
        </p:txBody>
      </p:sp>
      <p:sp>
        <p:nvSpPr>
          <p:cNvPr id="4" name="TextBox 3"/>
          <p:cNvSpPr txBox="1"/>
          <p:nvPr/>
        </p:nvSpPr>
        <p:spPr>
          <a:xfrm>
            <a:off x="914400" y="1737360"/>
            <a:ext cx="1097280" cy="365760"/>
          </a:xfrm>
          <a:prstGeom prst="rect">
            <a:avLst/>
          </a:prstGeom>
          <a:noFill/>
        </p:spPr>
        <p:txBody>
          <a:bodyPr wrap="square">
            <a:spAutoFit/>
          </a:bodyPr>
          <a:lstStyle/>
          <a:p>
            <a:pPr algn="l">
              <a:defRPr sz="2000" b="1">
                <a:solidFill>
                  <a:srgbClr val="0096FF"/>
                </a:solidFill>
                <a:latin typeface="Calibri"/>
              </a:defRPr>
            </a:pPr>
            <a:r>
              <a:t>6,000</a:t>
            </a:r>
          </a:p>
        </p:txBody>
      </p:sp>
      <p:sp>
        <p:nvSpPr>
          <p:cNvPr id="5" name="TextBox 4"/>
          <p:cNvSpPr txBox="1"/>
          <p:nvPr/>
        </p:nvSpPr>
        <p:spPr>
          <a:xfrm>
            <a:off x="2103120" y="1737360"/>
            <a:ext cx="3657600" cy="365760"/>
          </a:xfrm>
          <a:prstGeom prst="rect">
            <a:avLst/>
          </a:prstGeom>
          <a:noFill/>
        </p:spPr>
        <p:txBody>
          <a:bodyPr wrap="square">
            <a:spAutoFit/>
          </a:bodyPr>
          <a:lstStyle/>
          <a:p>
            <a:pPr algn="l">
              <a:defRPr sz="1600" b="0">
                <a:solidFill>
                  <a:srgbClr val="FFFFFF"/>
                </a:solidFill>
                <a:latin typeface="Calibri"/>
              </a:defRPr>
            </a:pPr>
            <a:r>
              <a:t>chart images (PNG)</a:t>
            </a:r>
          </a:p>
        </p:txBody>
      </p:sp>
      <p:sp>
        <p:nvSpPr>
          <p:cNvPr id="6" name="TextBox 5"/>
          <p:cNvSpPr txBox="1"/>
          <p:nvPr/>
        </p:nvSpPr>
        <p:spPr>
          <a:xfrm>
            <a:off x="914400" y="2194560"/>
            <a:ext cx="1097280" cy="365760"/>
          </a:xfrm>
          <a:prstGeom prst="rect">
            <a:avLst/>
          </a:prstGeom>
          <a:noFill/>
        </p:spPr>
        <p:txBody>
          <a:bodyPr wrap="square">
            <a:spAutoFit/>
          </a:bodyPr>
          <a:lstStyle/>
          <a:p>
            <a:pPr algn="l">
              <a:defRPr sz="2000" b="1">
                <a:solidFill>
                  <a:srgbClr val="0096FF"/>
                </a:solidFill>
                <a:latin typeface="Calibri"/>
              </a:defRPr>
            </a:pPr>
            <a:r>
              <a:t>18</a:t>
            </a:r>
          </a:p>
        </p:txBody>
      </p:sp>
      <p:sp>
        <p:nvSpPr>
          <p:cNvPr id="7" name="TextBox 6"/>
          <p:cNvSpPr txBox="1"/>
          <p:nvPr/>
        </p:nvSpPr>
        <p:spPr>
          <a:xfrm>
            <a:off x="2103120" y="2194560"/>
            <a:ext cx="3657600" cy="365760"/>
          </a:xfrm>
          <a:prstGeom prst="rect">
            <a:avLst/>
          </a:prstGeom>
          <a:noFill/>
        </p:spPr>
        <p:txBody>
          <a:bodyPr wrap="square">
            <a:spAutoFit/>
          </a:bodyPr>
          <a:lstStyle/>
          <a:p>
            <a:pPr algn="l">
              <a:defRPr sz="1600" b="0">
                <a:solidFill>
                  <a:srgbClr val="FFFFFF"/>
                </a:solidFill>
                <a:latin typeface="Calibri"/>
              </a:defRPr>
            </a:pPr>
            <a:r>
              <a:t>chart types</a:t>
            </a:r>
          </a:p>
        </p:txBody>
      </p:sp>
      <p:sp>
        <p:nvSpPr>
          <p:cNvPr id="8" name="TextBox 7"/>
          <p:cNvSpPr txBox="1"/>
          <p:nvPr/>
        </p:nvSpPr>
        <p:spPr>
          <a:xfrm>
            <a:off x="914400" y="2651760"/>
            <a:ext cx="1097280" cy="365760"/>
          </a:xfrm>
          <a:prstGeom prst="rect">
            <a:avLst/>
          </a:prstGeom>
          <a:noFill/>
        </p:spPr>
        <p:txBody>
          <a:bodyPr wrap="square">
            <a:spAutoFit/>
          </a:bodyPr>
          <a:lstStyle/>
          <a:p>
            <a:pPr algn="l">
              <a:defRPr sz="2000" b="1">
                <a:solidFill>
                  <a:srgbClr val="0096FF"/>
                </a:solidFill>
                <a:latin typeface="Calibri"/>
              </a:defRPr>
            </a:pPr>
            <a:r>
              <a:t>22</a:t>
            </a:r>
          </a:p>
        </p:txBody>
      </p:sp>
      <p:sp>
        <p:nvSpPr>
          <p:cNvPr id="9" name="TextBox 8"/>
          <p:cNvSpPr txBox="1"/>
          <p:nvPr/>
        </p:nvSpPr>
        <p:spPr>
          <a:xfrm>
            <a:off x="2103120" y="2651760"/>
            <a:ext cx="3657600" cy="365760"/>
          </a:xfrm>
          <a:prstGeom prst="rect">
            <a:avLst/>
          </a:prstGeom>
          <a:noFill/>
        </p:spPr>
        <p:txBody>
          <a:bodyPr wrap="square">
            <a:spAutoFit/>
          </a:bodyPr>
          <a:lstStyle/>
          <a:p>
            <a:pPr algn="l">
              <a:defRPr sz="1600" b="0">
                <a:solidFill>
                  <a:srgbClr val="FFFFFF"/>
                </a:solidFill>
                <a:latin typeface="Calibri"/>
              </a:defRPr>
            </a:pPr>
            <a:r>
              <a:t>academic topics</a:t>
            </a:r>
          </a:p>
        </p:txBody>
      </p:sp>
      <p:sp>
        <p:nvSpPr>
          <p:cNvPr id="10" name="TextBox 9"/>
          <p:cNvSpPr txBox="1"/>
          <p:nvPr/>
        </p:nvSpPr>
        <p:spPr>
          <a:xfrm>
            <a:off x="914400" y="3108960"/>
            <a:ext cx="1097280" cy="365760"/>
          </a:xfrm>
          <a:prstGeom prst="rect">
            <a:avLst/>
          </a:prstGeom>
          <a:noFill/>
        </p:spPr>
        <p:txBody>
          <a:bodyPr wrap="square">
            <a:spAutoFit/>
          </a:bodyPr>
          <a:lstStyle/>
          <a:p>
            <a:pPr algn="l">
              <a:defRPr sz="2000" b="1">
                <a:solidFill>
                  <a:srgbClr val="0096FF"/>
                </a:solidFill>
                <a:latin typeface="Calibri"/>
              </a:defRPr>
            </a:pPr>
            <a:r>
              <a:t>1</a:t>
            </a:r>
          </a:p>
        </p:txBody>
      </p:sp>
      <p:sp>
        <p:nvSpPr>
          <p:cNvPr id="11" name="TextBox 10"/>
          <p:cNvSpPr txBox="1"/>
          <p:nvPr/>
        </p:nvSpPr>
        <p:spPr>
          <a:xfrm>
            <a:off x="2103120" y="3108960"/>
            <a:ext cx="3657600" cy="365760"/>
          </a:xfrm>
          <a:prstGeom prst="rect">
            <a:avLst/>
          </a:prstGeom>
          <a:noFill/>
        </p:spPr>
        <p:txBody>
          <a:bodyPr wrap="square">
            <a:spAutoFit/>
          </a:bodyPr>
          <a:lstStyle/>
          <a:p>
            <a:pPr algn="l">
              <a:defRPr sz="1600" b="0">
                <a:solidFill>
                  <a:srgbClr val="FFFFFF"/>
                </a:solidFill>
                <a:latin typeface="Calibri"/>
              </a:defRPr>
            </a:pPr>
            <a:r>
              <a:t>QA pair per image (human-authored)</a:t>
            </a:r>
          </a:p>
        </p:txBody>
      </p:sp>
      <p:sp>
        <p:nvSpPr>
          <p:cNvPr id="12" name="TextBox 11"/>
          <p:cNvSpPr txBox="1"/>
          <p:nvPr/>
        </p:nvSpPr>
        <p:spPr>
          <a:xfrm>
            <a:off x="914400" y="3566160"/>
            <a:ext cx="1097280" cy="365760"/>
          </a:xfrm>
          <a:prstGeom prst="rect">
            <a:avLst/>
          </a:prstGeom>
          <a:noFill/>
        </p:spPr>
        <p:txBody>
          <a:bodyPr wrap="square">
            <a:spAutoFit/>
          </a:bodyPr>
          <a:lstStyle/>
          <a:p>
            <a:pPr algn="l">
              <a:defRPr sz="2000" b="1">
                <a:solidFill>
                  <a:srgbClr val="0096FF"/>
                </a:solidFill>
                <a:latin typeface="Calibri"/>
              </a:defRPr>
            </a:pPr>
            <a:r>
              <a:t>17</a:t>
            </a:r>
          </a:p>
        </p:txBody>
      </p:sp>
      <p:sp>
        <p:nvSpPr>
          <p:cNvPr id="13" name="TextBox 12"/>
          <p:cNvSpPr txBox="1"/>
          <p:nvPr/>
        </p:nvSpPr>
        <p:spPr>
          <a:xfrm>
            <a:off x="2103120" y="3566160"/>
            <a:ext cx="3657600" cy="365760"/>
          </a:xfrm>
          <a:prstGeom prst="rect">
            <a:avLst/>
          </a:prstGeom>
          <a:noFill/>
        </p:spPr>
        <p:txBody>
          <a:bodyPr wrap="square">
            <a:spAutoFit/>
          </a:bodyPr>
          <a:lstStyle/>
          <a:p>
            <a:pPr algn="l">
              <a:defRPr sz="1600" b="0">
                <a:solidFill>
                  <a:srgbClr val="FFFFFF"/>
                </a:solidFill>
                <a:latin typeface="Calibri"/>
              </a:defRPr>
            </a:pPr>
            <a:r>
              <a:t>2D types + 1 3D type (3D-Bar)</a:t>
            </a:r>
          </a:p>
        </p:txBody>
      </p:sp>
      <p:sp>
        <p:nvSpPr>
          <p:cNvPr id="14" name="TextBox 13"/>
          <p:cNvSpPr txBox="1"/>
          <p:nvPr/>
        </p:nvSpPr>
        <p:spPr>
          <a:xfrm>
            <a:off x="731520" y="4114800"/>
            <a:ext cx="5029200" cy="457200"/>
          </a:xfrm>
          <a:prstGeom prst="rect">
            <a:avLst/>
          </a:prstGeom>
          <a:noFill/>
        </p:spPr>
        <p:txBody>
          <a:bodyPr wrap="square">
            <a:spAutoFit/>
          </a:bodyPr>
          <a:lstStyle/>
          <a:p>
            <a:pPr algn="l">
              <a:defRPr sz="1800" b="1">
                <a:solidFill>
                  <a:srgbClr val="0096FF"/>
                </a:solidFill>
                <a:latin typeface="Calibri"/>
              </a:defRPr>
            </a:pPr>
            <a:r>
              <a:t>Sample Question</a:t>
            </a:r>
          </a:p>
        </p:txBody>
      </p:sp>
      <p:sp>
        <p:nvSpPr>
          <p:cNvPr id="15" name="TextBox 14"/>
          <p:cNvSpPr txBox="1"/>
          <p:nvPr/>
        </p:nvSpPr>
        <p:spPr>
          <a:xfrm>
            <a:off x="731520" y="4663440"/>
            <a:ext cx="5029200" cy="365760"/>
          </a:xfrm>
          <a:prstGeom prst="rect">
            <a:avLst/>
          </a:prstGeom>
          <a:noFill/>
        </p:spPr>
        <p:txBody>
          <a:bodyPr wrap="square">
            <a:spAutoFit/>
          </a:bodyPr>
          <a:lstStyle/>
          <a:p>
            <a:pPr algn="l">
              <a:defRPr sz="1400" b="1">
                <a:solidFill>
                  <a:srgbClr val="FFFFFF"/>
                </a:solidFill>
                <a:latin typeface="Calibri"/>
              </a:defRPr>
            </a:pPr>
            <a:r>
              <a:t>Q: How many more nurses are in East vs North?</a:t>
            </a:r>
          </a:p>
        </p:txBody>
      </p:sp>
      <p:sp>
        <p:nvSpPr>
          <p:cNvPr id="16" name="TextBox 15"/>
          <p:cNvSpPr txBox="1"/>
          <p:nvPr/>
        </p:nvSpPr>
        <p:spPr>
          <a:xfrm>
            <a:off x="731520" y="5029200"/>
            <a:ext cx="5029200" cy="365760"/>
          </a:xfrm>
          <a:prstGeom prst="rect">
            <a:avLst/>
          </a:prstGeom>
          <a:noFill/>
        </p:spPr>
        <p:txBody>
          <a:bodyPr wrap="square">
            <a:spAutoFit/>
          </a:bodyPr>
          <a:lstStyle/>
          <a:p>
            <a:pPr algn="l">
              <a:defRPr sz="1400" b="1">
                <a:solidFill>
                  <a:srgbClr val="4CAF50"/>
                </a:solidFill>
                <a:latin typeface="Calibri"/>
              </a:defRPr>
            </a:pPr>
            <a:r>
              <a:t>A: 500</a:t>
            </a:r>
          </a:p>
        </p:txBody>
      </p:sp>
      <p:pic>
        <p:nvPicPr>
          <p:cNvPr id="17" name="Picture 16" descr="sample_bar_2d.png"/>
          <p:cNvPicPr>
            <a:picLocks noChangeAspect="1"/>
          </p:cNvPicPr>
          <p:nvPr/>
        </p:nvPicPr>
        <p:blipFill>
          <a:blip r:embed="rId2"/>
          <a:stretch>
            <a:fillRect/>
          </a:stretch>
        </p:blipFill>
        <p:spPr>
          <a:xfrm>
            <a:off x="6400800" y="1097280"/>
            <a:ext cx="5029200" cy="3657600"/>
          </a:xfrm>
          <a:prstGeom prst="rect">
            <a:avLst/>
          </a:prstGeom>
        </p:spPr>
      </p:pic>
      <p:sp>
        <p:nvSpPr>
          <p:cNvPr id="18" name="TextBox 17"/>
          <p:cNvSpPr txBox="1"/>
          <p:nvPr/>
        </p:nvSpPr>
        <p:spPr>
          <a:xfrm>
            <a:off x="6400800" y="5029200"/>
            <a:ext cx="5029200" cy="457200"/>
          </a:xfrm>
          <a:prstGeom prst="rect">
            <a:avLst/>
          </a:prstGeom>
          <a:noFill/>
        </p:spPr>
        <p:txBody>
          <a:bodyPr wrap="square">
            <a:spAutoFit/>
          </a:bodyPr>
          <a:lstStyle/>
          <a:p>
            <a:pPr algn="ctr">
              <a:defRPr sz="1200" b="0">
                <a:solidFill>
                  <a:srgbClr val="CCCCCC"/>
                </a:solidFill>
                <a:latin typeface="Calibri"/>
              </a:defRPr>
            </a:pPr>
            <a:r>
              <a:t>Source: HuggingFace (InternScience/ChartX)</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731520" y="274320"/>
            <a:ext cx="10058400" cy="548640"/>
          </a:xfrm>
          <a:prstGeom prst="rect">
            <a:avLst/>
          </a:prstGeom>
          <a:noFill/>
        </p:spPr>
        <p:txBody>
          <a:bodyPr wrap="square">
            <a:spAutoFit/>
          </a:bodyPr>
          <a:lstStyle/>
          <a:p>
            <a:pPr algn="l">
              <a:defRPr sz="2800" b="1">
                <a:solidFill>
                  <a:srgbClr val="FFFFFF"/>
                </a:solidFill>
                <a:latin typeface="Calibri"/>
              </a:defRPr>
            </a:pPr>
            <a:r>
              <a:t>Methodology</a:t>
            </a:r>
          </a:p>
        </p:txBody>
      </p:sp>
      <p:sp>
        <p:nvSpPr>
          <p:cNvPr id="3" name="Oval 2"/>
          <p:cNvSpPr/>
          <p:nvPr/>
        </p:nvSpPr>
        <p:spPr>
          <a:xfrm>
            <a:off x="914400" y="1188720"/>
            <a:ext cx="457200" cy="457200"/>
          </a:xfrm>
          <a:prstGeom prst="ellipse">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defRPr>
            </a:pPr>
            <a:r>
              <a:t>1</a:t>
            </a:r>
          </a:p>
        </p:txBody>
      </p:sp>
      <p:sp>
        <p:nvSpPr>
          <p:cNvPr id="4" name="TextBox 3"/>
          <p:cNvSpPr txBox="1"/>
          <p:nvPr/>
        </p:nvSpPr>
        <p:spPr>
          <a:xfrm>
            <a:off x="1645920" y="1188720"/>
            <a:ext cx="1371600" cy="365760"/>
          </a:xfrm>
          <a:prstGeom prst="rect">
            <a:avLst/>
          </a:prstGeom>
          <a:noFill/>
        </p:spPr>
        <p:txBody>
          <a:bodyPr wrap="square">
            <a:spAutoFit/>
          </a:bodyPr>
          <a:lstStyle/>
          <a:p>
            <a:pPr algn="l">
              <a:defRPr sz="1800" b="1">
                <a:solidFill>
                  <a:srgbClr val="FFFFFF"/>
                </a:solidFill>
                <a:latin typeface="Calibri"/>
              </a:defRPr>
            </a:pPr>
            <a:r>
              <a:t>Load</a:t>
            </a:r>
          </a:p>
        </p:txBody>
      </p:sp>
      <p:sp>
        <p:nvSpPr>
          <p:cNvPr id="5" name="TextBox 4"/>
          <p:cNvSpPr txBox="1"/>
          <p:nvPr/>
        </p:nvSpPr>
        <p:spPr>
          <a:xfrm>
            <a:off x="3017520" y="1234440"/>
            <a:ext cx="3657600" cy="365760"/>
          </a:xfrm>
          <a:prstGeom prst="rect">
            <a:avLst/>
          </a:prstGeom>
          <a:noFill/>
        </p:spPr>
        <p:txBody>
          <a:bodyPr wrap="square">
            <a:spAutoFit/>
          </a:bodyPr>
          <a:lstStyle/>
          <a:p>
            <a:pPr algn="l">
              <a:defRPr sz="1400" b="0">
                <a:solidFill>
                  <a:srgbClr val="CCCCCC"/>
                </a:solidFill>
                <a:latin typeface="Calibri"/>
              </a:defRPr>
            </a:pPr>
            <a:r>
              <a:t>Chart image + QA pair from ChartX</a:t>
            </a:r>
          </a:p>
        </p:txBody>
      </p:sp>
      <p:sp>
        <p:nvSpPr>
          <p:cNvPr id="6" name="Oval 5"/>
          <p:cNvSpPr/>
          <p:nvPr/>
        </p:nvSpPr>
        <p:spPr>
          <a:xfrm>
            <a:off x="914400" y="2011680"/>
            <a:ext cx="457200" cy="457200"/>
          </a:xfrm>
          <a:prstGeom prst="ellipse">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defRPr>
            </a:pPr>
            <a:r>
              <a:t>2</a:t>
            </a:r>
          </a:p>
        </p:txBody>
      </p:sp>
      <p:sp>
        <p:nvSpPr>
          <p:cNvPr id="7" name="TextBox 6"/>
          <p:cNvSpPr txBox="1"/>
          <p:nvPr/>
        </p:nvSpPr>
        <p:spPr>
          <a:xfrm>
            <a:off x="1645920" y="2011680"/>
            <a:ext cx="1371600" cy="365760"/>
          </a:xfrm>
          <a:prstGeom prst="rect">
            <a:avLst/>
          </a:prstGeom>
          <a:noFill/>
        </p:spPr>
        <p:txBody>
          <a:bodyPr wrap="square">
            <a:spAutoFit/>
          </a:bodyPr>
          <a:lstStyle/>
          <a:p>
            <a:pPr algn="l">
              <a:defRPr sz="1800" b="1">
                <a:solidFill>
                  <a:srgbClr val="FFFFFF"/>
                </a:solidFill>
                <a:latin typeface="Calibri"/>
              </a:defRPr>
            </a:pPr>
            <a:r>
              <a:t>Query</a:t>
            </a:r>
          </a:p>
        </p:txBody>
      </p:sp>
      <p:sp>
        <p:nvSpPr>
          <p:cNvPr id="8" name="TextBox 7"/>
          <p:cNvSpPr txBox="1"/>
          <p:nvPr/>
        </p:nvSpPr>
        <p:spPr>
          <a:xfrm>
            <a:off x="3017520" y="2057400"/>
            <a:ext cx="3657600" cy="365760"/>
          </a:xfrm>
          <a:prstGeom prst="rect">
            <a:avLst/>
          </a:prstGeom>
          <a:noFill/>
        </p:spPr>
        <p:txBody>
          <a:bodyPr wrap="square">
            <a:spAutoFit/>
          </a:bodyPr>
          <a:lstStyle/>
          <a:p>
            <a:pPr algn="l">
              <a:defRPr sz="1400" b="0">
                <a:solidFill>
                  <a:srgbClr val="CCCCCC"/>
                </a:solidFill>
                <a:latin typeface="Calibri"/>
              </a:defRPr>
            </a:pPr>
            <a:r>
              <a:t>Send image + question to GPT-5.4 (temp=0)</a:t>
            </a:r>
          </a:p>
        </p:txBody>
      </p:sp>
      <p:sp>
        <p:nvSpPr>
          <p:cNvPr id="9" name="Oval 8"/>
          <p:cNvSpPr/>
          <p:nvPr/>
        </p:nvSpPr>
        <p:spPr>
          <a:xfrm>
            <a:off x="914400" y="2834640"/>
            <a:ext cx="457200" cy="457200"/>
          </a:xfrm>
          <a:prstGeom prst="ellipse">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defRPr>
            </a:pPr>
            <a:r>
              <a:t>3</a:t>
            </a:r>
          </a:p>
        </p:txBody>
      </p:sp>
      <p:sp>
        <p:nvSpPr>
          <p:cNvPr id="10" name="TextBox 9"/>
          <p:cNvSpPr txBox="1"/>
          <p:nvPr/>
        </p:nvSpPr>
        <p:spPr>
          <a:xfrm>
            <a:off x="1645920" y="2834640"/>
            <a:ext cx="1371600" cy="365760"/>
          </a:xfrm>
          <a:prstGeom prst="rect">
            <a:avLst/>
          </a:prstGeom>
          <a:noFill/>
        </p:spPr>
        <p:txBody>
          <a:bodyPr wrap="square">
            <a:spAutoFit/>
          </a:bodyPr>
          <a:lstStyle/>
          <a:p>
            <a:pPr algn="l">
              <a:defRPr sz="1800" b="1">
                <a:solidFill>
                  <a:srgbClr val="FFFFFF"/>
                </a:solidFill>
                <a:latin typeface="Calibri"/>
              </a:defRPr>
            </a:pPr>
            <a:r>
              <a:t>Parse</a:t>
            </a:r>
          </a:p>
        </p:txBody>
      </p:sp>
      <p:sp>
        <p:nvSpPr>
          <p:cNvPr id="11" name="TextBox 10"/>
          <p:cNvSpPr txBox="1"/>
          <p:nvPr/>
        </p:nvSpPr>
        <p:spPr>
          <a:xfrm>
            <a:off x="3017520" y="2880360"/>
            <a:ext cx="3657600" cy="365760"/>
          </a:xfrm>
          <a:prstGeom prst="rect">
            <a:avLst/>
          </a:prstGeom>
          <a:noFill/>
        </p:spPr>
        <p:txBody>
          <a:bodyPr wrap="square">
            <a:spAutoFit/>
          </a:bodyPr>
          <a:lstStyle/>
          <a:p>
            <a:pPr algn="l">
              <a:defRPr sz="1400" b="0">
                <a:solidFill>
                  <a:srgbClr val="CCCCCC"/>
                </a:solidFill>
                <a:latin typeface="Calibri"/>
              </a:defRPr>
            </a:pPr>
            <a:r>
              <a:t>Extract answer from free-text response</a:t>
            </a:r>
          </a:p>
        </p:txBody>
      </p:sp>
      <p:sp>
        <p:nvSpPr>
          <p:cNvPr id="12" name="Oval 11"/>
          <p:cNvSpPr/>
          <p:nvPr/>
        </p:nvSpPr>
        <p:spPr>
          <a:xfrm>
            <a:off x="914400" y="3657600"/>
            <a:ext cx="457200" cy="457200"/>
          </a:xfrm>
          <a:prstGeom prst="ellipse">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defRPr>
            </a:pPr>
            <a:r>
              <a:t>4</a:t>
            </a:r>
          </a:p>
        </p:txBody>
      </p:sp>
      <p:sp>
        <p:nvSpPr>
          <p:cNvPr id="13" name="TextBox 12"/>
          <p:cNvSpPr txBox="1"/>
          <p:nvPr/>
        </p:nvSpPr>
        <p:spPr>
          <a:xfrm>
            <a:off x="1645920" y="3657600"/>
            <a:ext cx="1371600" cy="365760"/>
          </a:xfrm>
          <a:prstGeom prst="rect">
            <a:avLst/>
          </a:prstGeom>
          <a:noFill/>
        </p:spPr>
        <p:txBody>
          <a:bodyPr wrap="square">
            <a:spAutoFit/>
          </a:bodyPr>
          <a:lstStyle/>
          <a:p>
            <a:pPr algn="l">
              <a:defRPr sz="1800" b="1">
                <a:solidFill>
                  <a:srgbClr val="FFFFFF"/>
                </a:solidFill>
                <a:latin typeface="Calibri"/>
              </a:defRPr>
            </a:pPr>
            <a:r>
              <a:t>Score</a:t>
            </a:r>
          </a:p>
        </p:txBody>
      </p:sp>
      <p:sp>
        <p:nvSpPr>
          <p:cNvPr id="14" name="TextBox 13"/>
          <p:cNvSpPr txBox="1"/>
          <p:nvPr/>
        </p:nvSpPr>
        <p:spPr>
          <a:xfrm>
            <a:off x="3017520" y="3703320"/>
            <a:ext cx="3657600" cy="365760"/>
          </a:xfrm>
          <a:prstGeom prst="rect">
            <a:avLst/>
          </a:prstGeom>
          <a:noFill/>
        </p:spPr>
        <p:txBody>
          <a:bodyPr wrap="square">
            <a:spAutoFit/>
          </a:bodyPr>
          <a:lstStyle/>
          <a:p>
            <a:pPr algn="l">
              <a:defRPr sz="1400" b="0">
                <a:solidFill>
                  <a:srgbClr val="CCCCCC"/>
                </a:solidFill>
                <a:latin typeface="Calibri"/>
              </a:defRPr>
            </a:pPr>
            <a:r>
              <a:t>10% numeric tolerance + keyword matching</a:t>
            </a:r>
          </a:p>
        </p:txBody>
      </p:sp>
      <p:sp>
        <p:nvSpPr>
          <p:cNvPr id="15" name="Oval 14"/>
          <p:cNvSpPr/>
          <p:nvPr/>
        </p:nvSpPr>
        <p:spPr>
          <a:xfrm>
            <a:off x="914400" y="4480560"/>
            <a:ext cx="457200" cy="457200"/>
          </a:xfrm>
          <a:prstGeom prst="ellipse">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defRPr>
            </a:pPr>
            <a:r>
              <a:t>5</a:t>
            </a:r>
          </a:p>
        </p:txBody>
      </p:sp>
      <p:sp>
        <p:nvSpPr>
          <p:cNvPr id="16" name="TextBox 15"/>
          <p:cNvSpPr txBox="1"/>
          <p:nvPr/>
        </p:nvSpPr>
        <p:spPr>
          <a:xfrm>
            <a:off x="1645920" y="4480560"/>
            <a:ext cx="1371600" cy="365760"/>
          </a:xfrm>
          <a:prstGeom prst="rect">
            <a:avLst/>
          </a:prstGeom>
          <a:noFill/>
        </p:spPr>
        <p:txBody>
          <a:bodyPr wrap="square">
            <a:spAutoFit/>
          </a:bodyPr>
          <a:lstStyle/>
          <a:p>
            <a:pPr algn="l">
              <a:defRPr sz="1800" b="1">
                <a:solidFill>
                  <a:srgbClr val="FFFFFF"/>
                </a:solidFill>
                <a:latin typeface="Calibri"/>
              </a:defRPr>
            </a:pPr>
            <a:r>
              <a:t>Cache</a:t>
            </a:r>
          </a:p>
        </p:txBody>
      </p:sp>
      <p:sp>
        <p:nvSpPr>
          <p:cNvPr id="17" name="TextBox 16"/>
          <p:cNvSpPr txBox="1"/>
          <p:nvPr/>
        </p:nvSpPr>
        <p:spPr>
          <a:xfrm>
            <a:off x="3017520" y="4526280"/>
            <a:ext cx="3657600" cy="365760"/>
          </a:xfrm>
          <a:prstGeom prst="rect">
            <a:avLst/>
          </a:prstGeom>
          <a:noFill/>
        </p:spPr>
        <p:txBody>
          <a:bodyPr wrap="square">
            <a:spAutoFit/>
          </a:bodyPr>
          <a:lstStyle/>
          <a:p>
            <a:pPr algn="l">
              <a:defRPr sz="1400" b="0">
                <a:solidFill>
                  <a:srgbClr val="CCCCCC"/>
                </a:solidFill>
                <a:latin typeface="Calibri"/>
              </a:defRPr>
            </a:pPr>
            <a:r>
              <a:t>JSON response files for reproducibility</a:t>
            </a:r>
          </a:p>
        </p:txBody>
      </p:sp>
      <p:sp>
        <p:nvSpPr>
          <p:cNvPr id="18" name="TextBox 17"/>
          <p:cNvSpPr txBox="1"/>
          <p:nvPr/>
        </p:nvSpPr>
        <p:spPr>
          <a:xfrm>
            <a:off x="6858000" y="1188720"/>
            <a:ext cx="4572000" cy="457200"/>
          </a:xfrm>
          <a:prstGeom prst="rect">
            <a:avLst/>
          </a:prstGeom>
          <a:noFill/>
        </p:spPr>
        <p:txBody>
          <a:bodyPr wrap="square">
            <a:spAutoFit/>
          </a:bodyPr>
          <a:lstStyle/>
          <a:p>
            <a:pPr algn="l">
              <a:defRPr sz="2000" b="1">
                <a:solidFill>
                  <a:srgbClr val="0096FF"/>
                </a:solidFill>
                <a:latin typeface="Calibri"/>
              </a:defRPr>
            </a:pPr>
            <a:r>
              <a:t>Configuration</a:t>
            </a:r>
          </a:p>
        </p:txBody>
      </p:sp>
      <p:sp>
        <p:nvSpPr>
          <p:cNvPr id="19" name="TextBox 18"/>
          <p:cNvSpPr txBox="1"/>
          <p:nvPr/>
        </p:nvSpPr>
        <p:spPr>
          <a:xfrm>
            <a:off x="6858000" y="1828800"/>
            <a:ext cx="4572000" cy="3200400"/>
          </a:xfrm>
          <a:prstGeom prst="rect">
            <a:avLst/>
          </a:prstGeom>
          <a:noFill/>
        </p:spPr>
        <p:txBody>
          <a:bodyPr wrap="square">
            <a:spAutoFit/>
          </a:bodyPr>
          <a:lstStyle/>
          <a:p>
            <a:pPr>
              <a:spcAft>
                <a:spcPts val="600"/>
              </a:spcAft>
              <a:defRPr sz="1400">
                <a:solidFill>
                  <a:srgbClr val="FFFFFF"/>
                </a:solidFill>
                <a:latin typeface="Calibri"/>
              </a:defRPr>
            </a:pPr>
            <a:r>
              <a:t>Model: GPT-5.4 (OpenAI)</a:t>
            </a:r>
          </a:p>
          <a:p>
            <a:pPr>
              <a:spcAft>
                <a:spcPts val="600"/>
              </a:spcAft>
              <a:defRPr sz="1400">
                <a:solidFill>
                  <a:srgbClr val="FFFFFF"/>
                </a:solidFill>
                <a:latin typeface="Calibri"/>
              </a:defRPr>
            </a:pPr>
            <a:r>
              <a:t>Temperature: 0 (deterministic)</a:t>
            </a:r>
          </a:p>
          <a:p>
            <a:pPr>
              <a:spcAft>
                <a:spcPts val="600"/>
              </a:spcAft>
              <a:defRPr sz="1400">
                <a:solidFill>
                  <a:srgbClr val="FFFFFF"/>
                </a:solidFill>
                <a:latin typeface="Calibri"/>
              </a:defRPr>
            </a:pPr>
            <a:r>
              <a:t>Max tokens: 200</a:t>
            </a:r>
          </a:p>
          <a:p>
            <a:pPr>
              <a:spcAft>
                <a:spcPts val="600"/>
              </a:spcAft>
              <a:defRPr sz="1400">
                <a:solidFill>
                  <a:srgbClr val="FFFFFF"/>
                </a:solidFill>
                <a:latin typeface="Calibri"/>
              </a:defRPr>
            </a:pPr>
            <a:r>
              <a:t>Concurrency: 5 parallel API calls</a:t>
            </a:r>
          </a:p>
          <a:p>
            <a:pPr>
              <a:spcAft>
                <a:spcPts val="600"/>
              </a:spcAft>
              <a:defRPr sz="1400">
                <a:solidFill>
                  <a:srgbClr val="FFFFFF"/>
                </a:solidFill>
                <a:latin typeface="Calibri"/>
              </a:defRPr>
            </a:pPr>
            <a:r>
              <a:t>Retry: Exponential backoff</a:t>
            </a:r>
          </a:p>
          <a:p>
            <a:pPr>
              <a:spcAft>
                <a:spcPts val="600"/>
              </a:spcAft>
              <a:defRPr sz="1400">
                <a:solidFill>
                  <a:srgbClr val="FFFFFF"/>
                </a:solidFill>
                <a:latin typeface="Calibri"/>
              </a:defRPr>
            </a:pPr>
            <a:r>
              <a:t>Total cost: ~$10</a:t>
            </a:r>
          </a:p>
          <a:p>
            <a:pPr>
              <a:spcAft>
                <a:spcPts val="600"/>
              </a:spcAft>
              <a:defRPr sz="1400">
                <a:solidFill>
                  <a:srgbClr val="FFFFFF"/>
                </a:solidFill>
                <a:latin typeface="Calibri"/>
              </a:defRPr>
            </a:pPr>
            <a:r>
              <a:t>Total evaluations: 5,713 (2D) + 280 (3D)</a:t>
            </a:r>
          </a:p>
        </p:txBody>
      </p:sp>
      <p:sp>
        <p:nvSpPr>
          <p:cNvPr id="20" name="TextBox 19"/>
          <p:cNvSpPr txBox="1"/>
          <p:nvPr/>
        </p:nvSpPr>
        <p:spPr>
          <a:xfrm>
            <a:off x="6858000" y="5029200"/>
            <a:ext cx="4572000" cy="914400"/>
          </a:xfrm>
          <a:prstGeom prst="rect">
            <a:avLst/>
          </a:prstGeom>
          <a:noFill/>
        </p:spPr>
        <p:txBody>
          <a:bodyPr wrap="square">
            <a:spAutoFit/>
          </a:bodyPr>
          <a:lstStyle/>
          <a:p>
            <a:pPr algn="ctr">
              <a:defRPr sz="1400" b="1">
                <a:solidFill>
                  <a:srgbClr val="FF9800"/>
                </a:solidFill>
                <a:latin typeface="Calibri"/>
              </a:defRPr>
            </a:pPr>
            <a:r>
              <a:t>Zero-shot evaluation — no system prompt,</a:t>
            </a:r>
            <a:br/>
            <a:r>
              <a:t>no few-shot examples, no chain-of-thought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731520" y="274320"/>
            <a:ext cx="10058400" cy="548640"/>
          </a:xfrm>
          <a:prstGeom prst="rect">
            <a:avLst/>
          </a:prstGeom>
          <a:noFill/>
        </p:spPr>
        <p:txBody>
          <a:bodyPr wrap="square">
            <a:spAutoFit/>
          </a:bodyPr>
          <a:lstStyle/>
          <a:p>
            <a:pPr algn="l">
              <a:defRPr sz="2800" b="1">
                <a:solidFill>
                  <a:srgbClr val="FFFFFF"/>
                </a:solidFill>
                <a:latin typeface="Calibri"/>
              </a:defRPr>
            </a:pPr>
            <a:r>
              <a:t>Result: 2D Accuracy by Chart Type</a:t>
            </a:r>
          </a:p>
        </p:txBody>
      </p:sp>
      <p:sp>
        <p:nvSpPr>
          <p:cNvPr id="3" name="TextBox 2"/>
          <p:cNvSpPr txBox="1"/>
          <p:nvPr/>
        </p:nvSpPr>
        <p:spPr>
          <a:xfrm>
            <a:off x="731520" y="822960"/>
            <a:ext cx="10058400" cy="457200"/>
          </a:xfrm>
          <a:prstGeom prst="rect">
            <a:avLst/>
          </a:prstGeom>
          <a:noFill/>
        </p:spPr>
        <p:txBody>
          <a:bodyPr wrap="square">
            <a:spAutoFit/>
          </a:bodyPr>
          <a:lstStyle/>
          <a:p>
            <a:pPr algn="l">
              <a:defRPr sz="1600" b="1">
                <a:solidFill>
                  <a:srgbClr val="0096FF"/>
                </a:solidFill>
                <a:latin typeface="Calibri"/>
              </a:defRPr>
            </a:pPr>
            <a:r>
              <a:t>Overall: 85.7% (4,896 / 5,713)  |  17 chart types  |  GPT-5.4</a:t>
            </a:r>
          </a:p>
        </p:txBody>
      </p:sp>
      <p:pic>
        <p:nvPicPr>
          <p:cNvPr id="4" name="Picture 3" descr="fig1_accuracy_by_chart_type.png"/>
          <p:cNvPicPr>
            <a:picLocks noChangeAspect="1"/>
          </p:cNvPicPr>
          <p:nvPr/>
        </p:nvPicPr>
        <p:blipFill>
          <a:blip r:embed="rId2"/>
          <a:stretch>
            <a:fillRect/>
          </a:stretch>
        </p:blipFill>
        <p:spPr>
          <a:xfrm>
            <a:off x="457200" y="1371600"/>
            <a:ext cx="7772400" cy="5029200"/>
          </a:xfrm>
          <a:prstGeom prst="rect">
            <a:avLst/>
          </a:prstGeom>
        </p:spPr>
      </p:pic>
      <p:sp>
        <p:nvSpPr>
          <p:cNvPr id="5" name="TextBox 4"/>
          <p:cNvSpPr txBox="1"/>
          <p:nvPr/>
        </p:nvSpPr>
        <p:spPr>
          <a:xfrm>
            <a:off x="8503920" y="1645920"/>
            <a:ext cx="3200400" cy="457200"/>
          </a:xfrm>
          <a:prstGeom prst="rect">
            <a:avLst/>
          </a:prstGeom>
          <a:noFill/>
        </p:spPr>
        <p:txBody>
          <a:bodyPr wrap="square">
            <a:spAutoFit/>
          </a:bodyPr>
          <a:lstStyle/>
          <a:p>
            <a:pPr algn="l">
              <a:defRPr sz="1800" b="1">
                <a:solidFill>
                  <a:srgbClr val="0096FF"/>
                </a:solidFill>
                <a:latin typeface="Calibri"/>
              </a:defRPr>
            </a:pPr>
            <a:r>
              <a:t>Key Insight</a:t>
            </a:r>
          </a:p>
        </p:txBody>
      </p:sp>
      <p:sp>
        <p:nvSpPr>
          <p:cNvPr id="6" name="TextBox 5"/>
          <p:cNvSpPr txBox="1"/>
          <p:nvPr/>
        </p:nvSpPr>
        <p:spPr>
          <a:xfrm>
            <a:off x="8503920" y="2286000"/>
            <a:ext cx="3200400" cy="3657600"/>
          </a:xfrm>
          <a:prstGeom prst="rect">
            <a:avLst/>
          </a:prstGeom>
          <a:noFill/>
        </p:spPr>
        <p:txBody>
          <a:bodyPr wrap="square">
            <a:spAutoFit/>
          </a:bodyPr>
          <a:lstStyle/>
          <a:p>
            <a:pPr algn="l">
              <a:defRPr sz="1400" b="0">
                <a:solidFill>
                  <a:srgbClr val="FFFFFF"/>
                </a:solidFill>
                <a:latin typeface="Calibri"/>
              </a:defRPr>
            </a:pPr>
            <a:r>
              <a:t>13 chart types &gt; 83%</a:t>
            </a:r>
            <a:br/>
            <a:br/>
            <a:r>
              <a:t>4 chart types struggle:</a:t>
            </a:r>
            <a:br/>
            <a:r>
              <a:t>• Area chart: 77.4%</a:t>
            </a:r>
            <a:br/>
            <a:r>
              <a:t>• Bubble: 71.1%</a:t>
            </a:r>
            <a:br/>
            <a:r>
              <a:t>• Radar: 68.2%</a:t>
            </a:r>
            <a:br/>
            <a:r>
              <a:t>• Treemap: 51.6%</a:t>
            </a:r>
            <a:br/>
            <a:br/>
            <a:r>
              <a:t>43.7pp gap between</a:t>
            </a:r>
            <a:br/>
            <a:r>
              <a:t>best and worst type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731520" y="274320"/>
            <a:ext cx="10058400" cy="548640"/>
          </a:xfrm>
          <a:prstGeom prst="rect">
            <a:avLst/>
          </a:prstGeom>
          <a:noFill/>
        </p:spPr>
        <p:txBody>
          <a:bodyPr wrap="square">
            <a:spAutoFit/>
          </a:bodyPr>
          <a:lstStyle/>
          <a:p>
            <a:pPr algn="l">
              <a:defRPr sz="2800" b="1">
                <a:solidFill>
                  <a:srgbClr val="FFFFFF"/>
                </a:solidFill>
                <a:latin typeface="Calibri"/>
              </a:defRPr>
            </a:pPr>
            <a:r>
              <a:t>The Perceptual Encoding Hierarchy</a:t>
            </a:r>
          </a:p>
        </p:txBody>
      </p:sp>
      <p:sp>
        <p:nvSpPr>
          <p:cNvPr id="3" name="TextBox 2"/>
          <p:cNvSpPr txBox="1"/>
          <p:nvPr/>
        </p:nvSpPr>
        <p:spPr>
          <a:xfrm>
            <a:off x="731520" y="914400"/>
            <a:ext cx="10058400" cy="731520"/>
          </a:xfrm>
          <a:prstGeom prst="rect">
            <a:avLst/>
          </a:prstGeom>
          <a:noFill/>
        </p:spPr>
        <p:txBody>
          <a:bodyPr wrap="square">
            <a:spAutoFit/>
          </a:bodyPr>
          <a:lstStyle/>
          <a:p>
            <a:pPr algn="l">
              <a:defRPr sz="1800" b="0">
                <a:solidFill>
                  <a:srgbClr val="CCCCCC"/>
                </a:solidFill>
                <a:latin typeface="Calibri"/>
              </a:defRPr>
            </a:pPr>
            <a:r>
              <a:t>VLM accuracy follows the same hierarchy as human vision (Cleveland &amp; McGill, 1984)</a:t>
            </a:r>
          </a:p>
        </p:txBody>
      </p:sp>
      <p:pic>
        <p:nvPicPr>
          <p:cNvPr id="4" name="Picture 3" descr="fig3_perceptual_hierarchy.png"/>
          <p:cNvPicPr>
            <a:picLocks noChangeAspect="1"/>
          </p:cNvPicPr>
          <p:nvPr/>
        </p:nvPicPr>
        <p:blipFill>
          <a:blip r:embed="rId2"/>
          <a:stretch>
            <a:fillRect/>
          </a:stretch>
        </p:blipFill>
        <p:spPr>
          <a:xfrm>
            <a:off x="457200" y="1828800"/>
            <a:ext cx="6400800" cy="4114800"/>
          </a:xfrm>
          <a:prstGeom prst="rect">
            <a:avLst/>
          </a:prstGeom>
        </p:spPr>
      </p:pic>
      <p:sp>
        <p:nvSpPr>
          <p:cNvPr id="5" name="TextBox 4"/>
          <p:cNvSpPr txBox="1"/>
          <p:nvPr/>
        </p:nvSpPr>
        <p:spPr>
          <a:xfrm>
            <a:off x="7315200" y="1828800"/>
            <a:ext cx="4389120" cy="457200"/>
          </a:xfrm>
          <a:prstGeom prst="rect">
            <a:avLst/>
          </a:prstGeom>
          <a:noFill/>
        </p:spPr>
        <p:txBody>
          <a:bodyPr wrap="square">
            <a:spAutoFit/>
          </a:bodyPr>
          <a:lstStyle/>
          <a:p>
            <a:pPr algn="l">
              <a:defRPr sz="1600" b="1">
                <a:solidFill>
                  <a:srgbClr val="0096FF"/>
                </a:solidFill>
                <a:latin typeface="Calibri"/>
              </a:defRPr>
            </a:pPr>
            <a:r>
              <a:t>Cleveland &amp; McGill (1984)</a:t>
            </a:r>
          </a:p>
        </p:txBody>
      </p:sp>
      <p:sp>
        <p:nvSpPr>
          <p:cNvPr id="6" name="TextBox 5"/>
          <p:cNvSpPr txBox="1"/>
          <p:nvPr/>
        </p:nvSpPr>
        <p:spPr>
          <a:xfrm>
            <a:off x="7315200" y="2377440"/>
            <a:ext cx="4389120" cy="3657600"/>
          </a:xfrm>
          <a:prstGeom prst="rect">
            <a:avLst/>
          </a:prstGeom>
          <a:noFill/>
        </p:spPr>
        <p:txBody>
          <a:bodyPr wrap="square">
            <a:spAutoFit/>
          </a:bodyPr>
          <a:lstStyle/>
          <a:p>
            <a:pPr algn="l">
              <a:defRPr sz="1400" b="0">
                <a:solidFill>
                  <a:srgbClr val="FFFFFF"/>
                </a:solidFill>
                <a:latin typeface="Calibri"/>
              </a:defRPr>
            </a:pPr>
            <a:r>
              <a:t>Most accurate:</a:t>
            </a:r>
            <a:br/>
            <a:r>
              <a:t>  1. Position on common scale</a:t>
            </a:r>
            <a:br/>
            <a:r>
              <a:t>  2. Position on non-aligned scales</a:t>
            </a:r>
            <a:br/>
            <a:r>
              <a:t>  3. Length</a:t>
            </a:r>
            <a:br/>
            <a:r>
              <a:t>  4. Direction / Angle</a:t>
            </a:r>
            <a:br/>
            <a:r>
              <a:t>  5. Area</a:t>
            </a:r>
            <a:br/>
            <a:r>
              <a:t>  6. Volume</a:t>
            </a:r>
            <a:br/>
            <a:r>
              <a:t>  7. Color saturation</a:t>
            </a:r>
            <a:br/>
            <a:br/>
            <a:r>
              <a:t>Our results match this</a:t>
            </a:r>
            <a:br/>
            <a:r>
              <a:t>hierarchy almost perfectly.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731520" y="274320"/>
            <a:ext cx="10058400" cy="548640"/>
          </a:xfrm>
          <a:prstGeom prst="rect">
            <a:avLst/>
          </a:prstGeom>
          <a:noFill/>
        </p:spPr>
        <p:txBody>
          <a:bodyPr wrap="square">
            <a:spAutoFit/>
          </a:bodyPr>
          <a:lstStyle/>
          <a:p>
            <a:pPr algn="l">
              <a:defRPr sz="2800" b="1">
                <a:solidFill>
                  <a:srgbClr val="FFFFFF"/>
                </a:solidFill>
                <a:latin typeface="Calibri"/>
              </a:defRPr>
            </a:pPr>
            <a:r>
              <a:t>Result: The 3D Accuracy Collapse</a:t>
            </a:r>
          </a:p>
        </p:txBody>
      </p:sp>
      <p:sp>
        <p:nvSpPr>
          <p:cNvPr id="3" name="Rounded Rectangle 2"/>
          <p:cNvSpPr/>
          <p:nvPr/>
        </p:nvSpPr>
        <p:spPr>
          <a:xfrm>
            <a:off x="914400" y="1371600"/>
            <a:ext cx="2743200" cy="1188720"/>
          </a:xfrm>
          <a:prstGeom prst="roundRect">
            <a:avLst/>
          </a:prstGeom>
          <a:solidFill>
            <a:srgbClr val="20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463040"/>
            <a:ext cx="2743200" cy="548640"/>
          </a:xfrm>
          <a:prstGeom prst="rect">
            <a:avLst/>
          </a:prstGeom>
          <a:noFill/>
        </p:spPr>
        <p:txBody>
          <a:bodyPr wrap="square">
            <a:spAutoFit/>
          </a:bodyPr>
          <a:lstStyle/>
          <a:p>
            <a:pPr algn="ctr">
              <a:defRPr sz="3600" b="1">
                <a:solidFill>
                  <a:srgbClr val="4CAF50"/>
                </a:solidFill>
                <a:latin typeface="Calibri"/>
              </a:defRPr>
            </a:pPr>
            <a:r>
              <a:t>92.1%</a:t>
            </a:r>
          </a:p>
        </p:txBody>
      </p:sp>
      <p:sp>
        <p:nvSpPr>
          <p:cNvPr id="5" name="TextBox 4"/>
          <p:cNvSpPr txBox="1"/>
          <p:nvPr/>
        </p:nvSpPr>
        <p:spPr>
          <a:xfrm>
            <a:off x="914400" y="2011680"/>
            <a:ext cx="2743200" cy="365760"/>
          </a:xfrm>
          <a:prstGeom prst="rect">
            <a:avLst/>
          </a:prstGeom>
          <a:noFill/>
        </p:spPr>
        <p:txBody>
          <a:bodyPr wrap="square">
            <a:spAutoFit/>
          </a:bodyPr>
          <a:lstStyle/>
          <a:p>
            <a:pPr algn="ctr">
              <a:defRPr sz="1400" b="0">
                <a:solidFill>
                  <a:srgbClr val="CCCCCC"/>
                </a:solidFill>
                <a:latin typeface="Calibri"/>
              </a:defRPr>
            </a:pPr>
            <a:r>
              <a:t>2D bar_chart_num</a:t>
            </a:r>
          </a:p>
        </p:txBody>
      </p:sp>
      <p:sp>
        <p:nvSpPr>
          <p:cNvPr id="6" name="Rounded Rectangle 5"/>
          <p:cNvSpPr/>
          <p:nvPr/>
        </p:nvSpPr>
        <p:spPr>
          <a:xfrm>
            <a:off x="4114800" y="1371600"/>
            <a:ext cx="2743200" cy="1188720"/>
          </a:xfrm>
          <a:prstGeom prst="roundRect">
            <a:avLst/>
          </a:prstGeom>
          <a:solidFill>
            <a:srgbClr val="20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0" y="1463040"/>
            <a:ext cx="2743200" cy="548640"/>
          </a:xfrm>
          <a:prstGeom prst="rect">
            <a:avLst/>
          </a:prstGeom>
          <a:noFill/>
        </p:spPr>
        <p:txBody>
          <a:bodyPr wrap="square">
            <a:spAutoFit/>
          </a:bodyPr>
          <a:lstStyle/>
          <a:p>
            <a:pPr algn="ctr">
              <a:defRPr sz="3600" b="1">
                <a:solidFill>
                  <a:srgbClr val="4CAF50"/>
                </a:solidFill>
                <a:latin typeface="Calibri"/>
              </a:defRPr>
            </a:pPr>
            <a:r>
              <a:t>87.7%</a:t>
            </a:r>
          </a:p>
        </p:txBody>
      </p:sp>
      <p:sp>
        <p:nvSpPr>
          <p:cNvPr id="8" name="TextBox 7"/>
          <p:cNvSpPr txBox="1"/>
          <p:nvPr/>
        </p:nvSpPr>
        <p:spPr>
          <a:xfrm>
            <a:off x="4114800" y="2011680"/>
            <a:ext cx="2743200" cy="365760"/>
          </a:xfrm>
          <a:prstGeom prst="rect">
            <a:avLst/>
          </a:prstGeom>
          <a:noFill/>
        </p:spPr>
        <p:txBody>
          <a:bodyPr wrap="square">
            <a:spAutoFit/>
          </a:bodyPr>
          <a:lstStyle/>
          <a:p>
            <a:pPr algn="ctr">
              <a:defRPr sz="1400" b="0">
                <a:solidFill>
                  <a:srgbClr val="CCCCCC"/>
                </a:solidFill>
                <a:latin typeface="Calibri"/>
              </a:defRPr>
            </a:pPr>
            <a:r>
              <a:t>2D bar_chart</a:t>
            </a:r>
          </a:p>
        </p:txBody>
      </p:sp>
      <p:sp>
        <p:nvSpPr>
          <p:cNvPr id="9" name="Rounded Rectangle 8"/>
          <p:cNvSpPr/>
          <p:nvPr/>
        </p:nvSpPr>
        <p:spPr>
          <a:xfrm>
            <a:off x="7315200" y="1371600"/>
            <a:ext cx="2743200" cy="1188720"/>
          </a:xfrm>
          <a:prstGeom prst="roundRect">
            <a:avLst/>
          </a:prstGeom>
          <a:solidFill>
            <a:srgbClr val="20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0" y="1463040"/>
            <a:ext cx="2743200" cy="548640"/>
          </a:xfrm>
          <a:prstGeom prst="rect">
            <a:avLst/>
          </a:prstGeom>
          <a:noFill/>
        </p:spPr>
        <p:txBody>
          <a:bodyPr wrap="square">
            <a:spAutoFit/>
          </a:bodyPr>
          <a:lstStyle/>
          <a:p>
            <a:pPr algn="ctr">
              <a:defRPr sz="3600" b="1">
                <a:solidFill>
                  <a:srgbClr val="F44336"/>
                </a:solidFill>
                <a:latin typeface="Calibri"/>
              </a:defRPr>
            </a:pPr>
            <a:r>
              <a:t>59.3%</a:t>
            </a:r>
          </a:p>
        </p:txBody>
      </p:sp>
      <p:sp>
        <p:nvSpPr>
          <p:cNvPr id="11" name="TextBox 10"/>
          <p:cNvSpPr txBox="1"/>
          <p:nvPr/>
        </p:nvSpPr>
        <p:spPr>
          <a:xfrm>
            <a:off x="7315200" y="2011680"/>
            <a:ext cx="2743200" cy="365760"/>
          </a:xfrm>
          <a:prstGeom prst="rect">
            <a:avLst/>
          </a:prstGeom>
          <a:noFill/>
        </p:spPr>
        <p:txBody>
          <a:bodyPr wrap="square">
            <a:spAutoFit/>
          </a:bodyPr>
          <a:lstStyle/>
          <a:p>
            <a:pPr algn="ctr">
              <a:defRPr sz="1400" b="0">
                <a:solidFill>
                  <a:srgbClr val="CCCCCC"/>
                </a:solidFill>
                <a:latin typeface="Calibri"/>
              </a:defRPr>
            </a:pPr>
            <a:r>
              <a:t>3D-Bar</a:t>
            </a:r>
          </a:p>
        </p:txBody>
      </p:sp>
      <p:sp>
        <p:nvSpPr>
          <p:cNvPr id="12" name="TextBox 11"/>
          <p:cNvSpPr txBox="1"/>
          <p:nvPr/>
        </p:nvSpPr>
        <p:spPr>
          <a:xfrm>
            <a:off x="914400" y="2926080"/>
            <a:ext cx="9144000" cy="457200"/>
          </a:xfrm>
          <a:prstGeom prst="rect">
            <a:avLst/>
          </a:prstGeom>
          <a:noFill/>
        </p:spPr>
        <p:txBody>
          <a:bodyPr wrap="square">
            <a:spAutoFit/>
          </a:bodyPr>
          <a:lstStyle/>
          <a:p>
            <a:pPr algn="ctr">
              <a:defRPr sz="2000" b="1">
                <a:solidFill>
                  <a:srgbClr val="F44336"/>
                </a:solidFill>
                <a:latin typeface="Calibri"/>
              </a:defRPr>
            </a:pPr>
            <a:r>
              <a:t>↓ 26–33 percentage-point drop from 2D to 3D</a:t>
            </a:r>
          </a:p>
        </p:txBody>
      </p:sp>
      <p:pic>
        <p:nvPicPr>
          <p:cNvPr id="13" name="Picture 12" descr="sample_bar_2d.png"/>
          <p:cNvPicPr>
            <a:picLocks noChangeAspect="1"/>
          </p:cNvPicPr>
          <p:nvPr/>
        </p:nvPicPr>
        <p:blipFill>
          <a:blip r:embed="rId2"/>
          <a:stretch>
            <a:fillRect/>
          </a:stretch>
        </p:blipFill>
        <p:spPr>
          <a:xfrm>
            <a:off x="1371600" y="3657600"/>
            <a:ext cx="4114800" cy="2743200"/>
          </a:xfrm>
          <a:prstGeom prst="rect">
            <a:avLst/>
          </a:prstGeom>
        </p:spPr>
      </p:pic>
      <p:pic>
        <p:nvPicPr>
          <p:cNvPr id="14" name="Picture 13" descr="sample_bar_3d.png"/>
          <p:cNvPicPr>
            <a:picLocks noChangeAspect="1"/>
          </p:cNvPicPr>
          <p:nvPr/>
        </p:nvPicPr>
        <p:blipFill>
          <a:blip r:embed="rId3"/>
          <a:stretch>
            <a:fillRect/>
          </a:stretch>
        </p:blipFill>
        <p:spPr>
          <a:xfrm>
            <a:off x="6400800" y="3657600"/>
            <a:ext cx="4114800" cy="2743200"/>
          </a:xfrm>
          <a:prstGeom prst="rect">
            <a:avLst/>
          </a:prstGeom>
        </p:spPr>
      </p:pic>
      <p:sp>
        <p:nvSpPr>
          <p:cNvPr id="15" name="TextBox 14"/>
          <p:cNvSpPr txBox="1"/>
          <p:nvPr/>
        </p:nvSpPr>
        <p:spPr>
          <a:xfrm>
            <a:off x="1371600" y="3383280"/>
            <a:ext cx="4114800" cy="365760"/>
          </a:xfrm>
          <a:prstGeom prst="rect">
            <a:avLst/>
          </a:prstGeom>
          <a:noFill/>
        </p:spPr>
        <p:txBody>
          <a:bodyPr wrap="square">
            <a:spAutoFit/>
          </a:bodyPr>
          <a:lstStyle/>
          <a:p>
            <a:pPr algn="ctr">
              <a:defRPr sz="1400" b="1">
                <a:solidFill>
                  <a:srgbClr val="4CAF50"/>
                </a:solidFill>
                <a:latin typeface="Calibri"/>
              </a:defRPr>
            </a:pPr>
            <a:r>
              <a:t>2D Bar Chart</a:t>
            </a:r>
          </a:p>
        </p:txBody>
      </p:sp>
      <p:sp>
        <p:nvSpPr>
          <p:cNvPr id="16" name="TextBox 15"/>
          <p:cNvSpPr txBox="1"/>
          <p:nvPr/>
        </p:nvSpPr>
        <p:spPr>
          <a:xfrm>
            <a:off x="6400800" y="3383280"/>
            <a:ext cx="4114800" cy="365760"/>
          </a:xfrm>
          <a:prstGeom prst="rect">
            <a:avLst/>
          </a:prstGeom>
          <a:noFill/>
        </p:spPr>
        <p:txBody>
          <a:bodyPr wrap="square">
            <a:spAutoFit/>
          </a:bodyPr>
          <a:lstStyle/>
          <a:p>
            <a:pPr algn="ctr">
              <a:defRPr sz="1400" b="1">
                <a:solidFill>
                  <a:srgbClr val="F44336"/>
                </a:solidFill>
                <a:latin typeface="Calibri"/>
              </a:defRPr>
            </a:pPr>
            <a:r>
              <a:t>3D Bar Chart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731520" y="274320"/>
            <a:ext cx="10058400" cy="548640"/>
          </a:xfrm>
          <a:prstGeom prst="rect">
            <a:avLst/>
          </a:prstGeom>
          <a:noFill/>
        </p:spPr>
        <p:txBody>
          <a:bodyPr wrap="square">
            <a:spAutoFit/>
          </a:bodyPr>
          <a:lstStyle/>
          <a:p>
            <a:pPr algn="l">
              <a:defRPr sz="2800" b="1">
                <a:solidFill>
                  <a:srgbClr val="FFFFFF"/>
                </a:solidFill>
                <a:latin typeface="Calibri"/>
              </a:defRPr>
            </a:pPr>
            <a:r>
              <a:t>Why 3D Charts Fail — Four Distortion Mechanisms</a:t>
            </a:r>
          </a:p>
        </p:txBody>
      </p:sp>
      <p:sp>
        <p:nvSpPr>
          <p:cNvPr id="3" name="TextBox 2"/>
          <p:cNvSpPr txBox="1"/>
          <p:nvPr/>
        </p:nvSpPr>
        <p:spPr>
          <a:xfrm>
            <a:off x="731520" y="822960"/>
            <a:ext cx="10058400" cy="457200"/>
          </a:xfrm>
          <a:prstGeom prst="rect">
            <a:avLst/>
          </a:prstGeom>
          <a:noFill/>
        </p:spPr>
        <p:txBody>
          <a:bodyPr wrap="square">
            <a:spAutoFit/>
          </a:bodyPr>
          <a:lstStyle/>
          <a:p>
            <a:pPr algn="l">
              <a:defRPr sz="1400" b="0">
                <a:solidFill>
                  <a:srgbClr val="CCCCCC"/>
                </a:solidFill>
                <a:latin typeface="Calibri"/>
              </a:defRPr>
            </a:pPr>
            <a:r>
              <a:t>Based on Wilke (2019) — Fundamentals of Data Visualization</a:t>
            </a:r>
          </a:p>
        </p:txBody>
      </p:sp>
      <p:sp>
        <p:nvSpPr>
          <p:cNvPr id="4" name="TextBox 3"/>
          <p:cNvSpPr txBox="1"/>
          <p:nvPr/>
        </p:nvSpPr>
        <p:spPr>
          <a:xfrm>
            <a:off x="914400" y="1554480"/>
            <a:ext cx="4572000" cy="365760"/>
          </a:xfrm>
          <a:prstGeom prst="rect">
            <a:avLst/>
          </a:prstGeom>
          <a:noFill/>
        </p:spPr>
        <p:txBody>
          <a:bodyPr wrap="square">
            <a:spAutoFit/>
          </a:bodyPr>
          <a:lstStyle/>
          <a:p>
            <a:pPr algn="l">
              <a:defRPr sz="1800" b="1">
                <a:solidFill>
                  <a:srgbClr val="F44336"/>
                </a:solidFill>
                <a:latin typeface="Calibri"/>
              </a:defRPr>
            </a:pPr>
            <a:r>
              <a:t>1. Non-invertible Projection</a:t>
            </a:r>
          </a:p>
        </p:txBody>
      </p:sp>
      <p:sp>
        <p:nvSpPr>
          <p:cNvPr id="5" name="TextBox 4"/>
          <p:cNvSpPr txBox="1"/>
          <p:nvPr/>
        </p:nvSpPr>
        <p:spPr>
          <a:xfrm>
            <a:off x="914400" y="1920240"/>
            <a:ext cx="4572000" cy="640080"/>
          </a:xfrm>
          <a:prstGeom prst="rect">
            <a:avLst/>
          </a:prstGeom>
          <a:noFill/>
        </p:spPr>
        <p:txBody>
          <a:bodyPr wrap="square">
            <a:spAutoFit/>
          </a:bodyPr>
          <a:lstStyle/>
          <a:p>
            <a:pPr algn="l">
              <a:defRPr sz="1400" b="0">
                <a:solidFill>
                  <a:srgbClr val="FFFFFF"/>
                </a:solidFill>
                <a:latin typeface="Calibri"/>
              </a:defRPr>
            </a:pPr>
            <a:r>
              <a:t>A single 2D pixel maps to a line in 3D space.</a:t>
            </a:r>
            <a:br/>
            <a:r>
              <a:t>Exact values cannot be recovered from one view.</a:t>
            </a:r>
          </a:p>
        </p:txBody>
      </p:sp>
      <p:sp>
        <p:nvSpPr>
          <p:cNvPr id="6" name="TextBox 5"/>
          <p:cNvSpPr txBox="1"/>
          <p:nvPr/>
        </p:nvSpPr>
        <p:spPr>
          <a:xfrm>
            <a:off x="914400" y="2743200"/>
            <a:ext cx="4572000" cy="365760"/>
          </a:xfrm>
          <a:prstGeom prst="rect">
            <a:avLst/>
          </a:prstGeom>
          <a:noFill/>
        </p:spPr>
        <p:txBody>
          <a:bodyPr wrap="square">
            <a:spAutoFit/>
          </a:bodyPr>
          <a:lstStyle/>
          <a:p>
            <a:pPr algn="l">
              <a:defRPr sz="1800" b="1">
                <a:solidFill>
                  <a:srgbClr val="F44336"/>
                </a:solidFill>
                <a:latin typeface="Calibri"/>
              </a:defRPr>
            </a:pPr>
            <a:r>
              <a:t>2. Foreshortening</a:t>
            </a:r>
          </a:p>
        </p:txBody>
      </p:sp>
      <p:sp>
        <p:nvSpPr>
          <p:cNvPr id="7" name="TextBox 6"/>
          <p:cNvSpPr txBox="1"/>
          <p:nvPr/>
        </p:nvSpPr>
        <p:spPr>
          <a:xfrm>
            <a:off x="914400" y="3108960"/>
            <a:ext cx="4572000" cy="640080"/>
          </a:xfrm>
          <a:prstGeom prst="rect">
            <a:avLst/>
          </a:prstGeom>
          <a:noFill/>
        </p:spPr>
        <p:txBody>
          <a:bodyPr wrap="square">
            <a:spAutoFit/>
          </a:bodyPr>
          <a:lstStyle/>
          <a:p>
            <a:pPr algn="l">
              <a:defRPr sz="1400" b="0">
                <a:solidFill>
                  <a:srgbClr val="FFFFFF"/>
                </a:solidFill>
                <a:latin typeface="Calibri"/>
              </a:defRPr>
            </a:pPr>
            <a:r>
              <a:t>Bars farther from the camera appear shorter</a:t>
            </a:r>
            <a:br/>
            <a:r>
              <a:t>than equally-valued bars in front.</a:t>
            </a:r>
          </a:p>
        </p:txBody>
      </p:sp>
      <p:sp>
        <p:nvSpPr>
          <p:cNvPr id="8" name="TextBox 7"/>
          <p:cNvSpPr txBox="1"/>
          <p:nvPr/>
        </p:nvSpPr>
        <p:spPr>
          <a:xfrm>
            <a:off x="914400" y="3931920"/>
            <a:ext cx="4572000" cy="365760"/>
          </a:xfrm>
          <a:prstGeom prst="rect">
            <a:avLst/>
          </a:prstGeom>
          <a:noFill/>
        </p:spPr>
        <p:txBody>
          <a:bodyPr wrap="square">
            <a:spAutoFit/>
          </a:bodyPr>
          <a:lstStyle/>
          <a:p>
            <a:pPr algn="l">
              <a:defRPr sz="1800" b="1">
                <a:solidFill>
                  <a:srgbClr val="F44336"/>
                </a:solidFill>
                <a:latin typeface="Calibri"/>
              </a:defRPr>
            </a:pPr>
            <a:r>
              <a:t>3. Occlusion</a:t>
            </a:r>
          </a:p>
        </p:txBody>
      </p:sp>
      <p:sp>
        <p:nvSpPr>
          <p:cNvPr id="9" name="TextBox 8"/>
          <p:cNvSpPr txBox="1"/>
          <p:nvPr/>
        </p:nvSpPr>
        <p:spPr>
          <a:xfrm>
            <a:off x="914400" y="4297680"/>
            <a:ext cx="4572000" cy="640080"/>
          </a:xfrm>
          <a:prstGeom prst="rect">
            <a:avLst/>
          </a:prstGeom>
          <a:noFill/>
        </p:spPr>
        <p:txBody>
          <a:bodyPr wrap="square">
            <a:spAutoFit/>
          </a:bodyPr>
          <a:lstStyle/>
          <a:p>
            <a:pPr algn="l">
              <a:defRPr sz="1400" b="0">
                <a:solidFill>
                  <a:srgbClr val="FFFFFF"/>
                </a:solidFill>
                <a:latin typeface="Calibri"/>
              </a:defRPr>
            </a:pPr>
            <a:r>
              <a:t>Front elements hide rear elements,</a:t>
            </a:r>
            <a:br/>
            <a:r>
              <a:t>physically removing information from the image.</a:t>
            </a:r>
          </a:p>
        </p:txBody>
      </p:sp>
      <p:sp>
        <p:nvSpPr>
          <p:cNvPr id="10" name="TextBox 9"/>
          <p:cNvSpPr txBox="1"/>
          <p:nvPr/>
        </p:nvSpPr>
        <p:spPr>
          <a:xfrm>
            <a:off x="914400" y="5120640"/>
            <a:ext cx="4572000" cy="365760"/>
          </a:xfrm>
          <a:prstGeom prst="rect">
            <a:avLst/>
          </a:prstGeom>
          <a:noFill/>
        </p:spPr>
        <p:txBody>
          <a:bodyPr wrap="square">
            <a:spAutoFit/>
          </a:bodyPr>
          <a:lstStyle/>
          <a:p>
            <a:pPr algn="l">
              <a:defRPr sz="1800" b="1">
                <a:solidFill>
                  <a:srgbClr val="F44336"/>
                </a:solidFill>
                <a:latin typeface="Calibri"/>
              </a:defRPr>
            </a:pPr>
            <a:r>
              <a:t>4. Unequal Scaling</a:t>
            </a:r>
          </a:p>
        </p:txBody>
      </p:sp>
      <p:sp>
        <p:nvSpPr>
          <p:cNvPr id="11" name="TextBox 10"/>
          <p:cNvSpPr txBox="1"/>
          <p:nvPr/>
        </p:nvSpPr>
        <p:spPr>
          <a:xfrm>
            <a:off x="914400" y="5486400"/>
            <a:ext cx="4572000" cy="640080"/>
          </a:xfrm>
          <a:prstGeom prst="rect">
            <a:avLst/>
          </a:prstGeom>
          <a:noFill/>
        </p:spPr>
        <p:txBody>
          <a:bodyPr wrap="square">
            <a:spAutoFit/>
          </a:bodyPr>
          <a:lstStyle/>
          <a:p>
            <a:pPr algn="l">
              <a:defRPr sz="1400" b="0">
                <a:solidFill>
                  <a:srgbClr val="FFFFFF"/>
                </a:solidFill>
                <a:latin typeface="Calibri"/>
              </a:defRPr>
            </a:pPr>
            <a:r>
              <a:t>Perspective causes identical data increments</a:t>
            </a:r>
            <a:br/>
            <a:r>
              <a:t>to occupy different pixel heights at different depths.</a:t>
            </a:r>
          </a:p>
        </p:txBody>
      </p:sp>
      <p:sp>
        <p:nvSpPr>
          <p:cNvPr id="12" name="TextBox 11"/>
          <p:cNvSpPr txBox="1"/>
          <p:nvPr/>
        </p:nvSpPr>
        <p:spPr>
          <a:xfrm>
            <a:off x="6400800" y="1554480"/>
            <a:ext cx="5029200" cy="4572000"/>
          </a:xfrm>
          <a:prstGeom prst="rect">
            <a:avLst/>
          </a:prstGeom>
          <a:noFill/>
        </p:spPr>
        <p:txBody>
          <a:bodyPr wrap="square">
            <a:spAutoFit/>
          </a:bodyPr>
          <a:lstStyle/>
          <a:p>
            <a:pPr algn="l">
              <a:defRPr sz="1600" b="0">
                <a:solidFill>
                  <a:srgbClr val="CCCCCC"/>
                </a:solidFill>
                <a:latin typeface="Calibri"/>
              </a:defRPr>
            </a:pPr>
            <a:r>
              <a:t>VLMs see a single static 2D</a:t>
            </a:r>
            <a:br/>
            <a:r>
              <a:t>projection of a 3D chart.</a:t>
            </a:r>
            <a:br/>
            <a:br/>
            <a:r>
              <a:t>They cannot:</a:t>
            </a:r>
            <a:br/>
            <a:r>
              <a:t>•  Rotate the view</a:t>
            </a:r>
            <a:br/>
            <a:r>
              <a:t>•  Look behind occluded bars</a:t>
            </a:r>
            <a:br/>
            <a:r>
              <a:t>•  Judge depth from stereo vision</a:t>
            </a:r>
            <a:br/>
            <a:r>
              <a:t>•  Interact with the chart</a:t>
            </a:r>
            <a:br/>
            <a:br/>
            <a:r>
              <a:t>Humans in VR can compensate.</a:t>
            </a:r>
            <a:br/>
            <a:r>
              <a:t>VLMs cannot.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731520" y="274320"/>
            <a:ext cx="10058400" cy="548640"/>
          </a:xfrm>
          <a:prstGeom prst="rect">
            <a:avLst/>
          </a:prstGeom>
          <a:noFill/>
        </p:spPr>
        <p:txBody>
          <a:bodyPr wrap="square">
            <a:spAutoFit/>
          </a:bodyPr>
          <a:lstStyle/>
          <a:p>
            <a:pPr algn="l">
              <a:defRPr sz="2800" b="1">
                <a:solidFill>
                  <a:srgbClr val="FFFFFF"/>
                </a:solidFill>
                <a:latin typeface="Calibri"/>
              </a:defRPr>
            </a:pPr>
            <a:r>
              <a:t>Key Finding: The Invisible Ground Truth Problem</a:t>
            </a:r>
          </a:p>
        </p:txBody>
      </p:sp>
      <p:sp>
        <p:nvSpPr>
          <p:cNvPr id="3" name="TextBox 2"/>
          <p:cNvSpPr txBox="1"/>
          <p:nvPr/>
        </p:nvSpPr>
        <p:spPr>
          <a:xfrm>
            <a:off x="731520" y="1005840"/>
            <a:ext cx="4572000" cy="457200"/>
          </a:xfrm>
          <a:prstGeom prst="rect">
            <a:avLst/>
          </a:prstGeom>
          <a:noFill/>
        </p:spPr>
        <p:txBody>
          <a:bodyPr wrap="square">
            <a:spAutoFit/>
          </a:bodyPr>
          <a:lstStyle/>
          <a:p>
            <a:pPr algn="l">
              <a:defRPr sz="1800" b="1">
                <a:solidFill>
                  <a:srgbClr val="FF9800"/>
                </a:solidFill>
                <a:latin typeface="Calibri"/>
              </a:defRPr>
            </a:pPr>
            <a:r>
              <a:t>Why does treemap accuracy = 51.6%?</a:t>
            </a:r>
          </a:p>
        </p:txBody>
      </p:sp>
      <p:sp>
        <p:nvSpPr>
          <p:cNvPr id="4" name="TextBox 3"/>
          <p:cNvSpPr txBox="1"/>
          <p:nvPr/>
        </p:nvSpPr>
        <p:spPr>
          <a:xfrm>
            <a:off x="731520" y="1554480"/>
            <a:ext cx="4572000" cy="365760"/>
          </a:xfrm>
          <a:prstGeom prst="rect">
            <a:avLst/>
          </a:prstGeom>
          <a:noFill/>
        </p:spPr>
        <p:txBody>
          <a:bodyPr wrap="square">
            <a:spAutoFit/>
          </a:bodyPr>
          <a:lstStyle/>
          <a:p>
            <a:pPr algn="l">
              <a:defRPr sz="1600" b="1">
                <a:solidFill>
                  <a:srgbClr val="FFFFFF"/>
                </a:solidFill>
                <a:latin typeface="Calibri"/>
              </a:defRPr>
            </a:pPr>
            <a:r>
              <a:t>The image shows:</a:t>
            </a:r>
          </a:p>
        </p:txBody>
      </p:sp>
      <p:sp>
        <p:nvSpPr>
          <p:cNvPr id="5" name="TextBox 4"/>
          <p:cNvSpPr txBox="1"/>
          <p:nvPr/>
        </p:nvSpPr>
        <p:spPr>
          <a:xfrm>
            <a:off x="731520" y="1920240"/>
            <a:ext cx="4572000" cy="457200"/>
          </a:xfrm>
          <a:prstGeom prst="rect">
            <a:avLst/>
          </a:prstGeom>
          <a:noFill/>
        </p:spPr>
        <p:txBody>
          <a:bodyPr wrap="square">
            <a:spAutoFit/>
          </a:bodyPr>
          <a:lstStyle/>
          <a:p>
            <a:pPr algn="l">
              <a:defRPr sz="1400" b="0">
                <a:solidFill>
                  <a:srgbClr val="FFFFFF"/>
                </a:solidFill>
                <a:latin typeface="Calibri"/>
              </a:defRPr>
            </a:pPr>
            <a:r>
              <a:t>Colored rectangles + category names</a:t>
            </a:r>
            <a:br/>
            <a:r>
              <a:t>NO numeric values</a:t>
            </a:r>
          </a:p>
        </p:txBody>
      </p:sp>
      <p:sp>
        <p:nvSpPr>
          <p:cNvPr id="6" name="TextBox 5"/>
          <p:cNvSpPr txBox="1"/>
          <p:nvPr/>
        </p:nvSpPr>
        <p:spPr>
          <a:xfrm>
            <a:off x="731520" y="2560320"/>
            <a:ext cx="4572000" cy="365760"/>
          </a:xfrm>
          <a:prstGeom prst="rect">
            <a:avLst/>
          </a:prstGeom>
          <a:noFill/>
        </p:spPr>
        <p:txBody>
          <a:bodyPr wrap="square">
            <a:spAutoFit/>
          </a:bodyPr>
          <a:lstStyle/>
          <a:p>
            <a:pPr algn="l">
              <a:defRPr sz="1600" b="1">
                <a:solidFill>
                  <a:srgbClr val="FFFFFF"/>
                </a:solidFill>
                <a:latin typeface="Calibri"/>
              </a:defRPr>
            </a:pPr>
            <a:r>
              <a:t>The ground truth expects:</a:t>
            </a:r>
          </a:p>
        </p:txBody>
      </p:sp>
      <p:sp>
        <p:nvSpPr>
          <p:cNvPr id="7" name="TextBox 6"/>
          <p:cNvSpPr txBox="1"/>
          <p:nvPr/>
        </p:nvSpPr>
        <p:spPr>
          <a:xfrm>
            <a:off x="731520" y="2926080"/>
            <a:ext cx="4572000" cy="457200"/>
          </a:xfrm>
          <a:prstGeom prst="rect">
            <a:avLst/>
          </a:prstGeom>
          <a:noFill/>
        </p:spPr>
        <p:txBody>
          <a:bodyPr wrap="square">
            <a:spAutoFit/>
          </a:bodyPr>
          <a:lstStyle/>
          <a:p>
            <a:pPr algn="l">
              <a:defRPr sz="1400" b="0">
                <a:solidFill>
                  <a:srgbClr val="F44336"/>
                </a:solidFill>
                <a:latin typeface="Calibri"/>
              </a:defRPr>
            </a:pPr>
            <a:r>
              <a:t>Exact percentages (e.g., "20%")</a:t>
            </a:r>
            <a:br/>
            <a:r>
              <a:t>from CSV data NOT shown in image</a:t>
            </a:r>
          </a:p>
        </p:txBody>
      </p:sp>
      <p:sp>
        <p:nvSpPr>
          <p:cNvPr id="8" name="TextBox 7"/>
          <p:cNvSpPr txBox="1"/>
          <p:nvPr/>
        </p:nvSpPr>
        <p:spPr>
          <a:xfrm>
            <a:off x="731520" y="3657600"/>
            <a:ext cx="4572000" cy="365760"/>
          </a:xfrm>
          <a:prstGeom prst="rect">
            <a:avLst/>
          </a:prstGeom>
          <a:noFill/>
        </p:spPr>
        <p:txBody>
          <a:bodyPr wrap="square">
            <a:spAutoFit/>
          </a:bodyPr>
          <a:lstStyle/>
          <a:p>
            <a:pPr algn="l">
              <a:defRPr sz="1600" b="1">
                <a:solidFill>
                  <a:srgbClr val="FFFFFF"/>
                </a:solidFill>
                <a:latin typeface="Calibri"/>
              </a:defRPr>
            </a:pPr>
            <a:r>
              <a:t>The reality:</a:t>
            </a:r>
          </a:p>
        </p:txBody>
      </p:sp>
      <p:sp>
        <p:nvSpPr>
          <p:cNvPr id="9" name="TextBox 8"/>
          <p:cNvSpPr txBox="1"/>
          <p:nvPr/>
        </p:nvSpPr>
        <p:spPr>
          <a:xfrm>
            <a:off x="731520" y="4023360"/>
            <a:ext cx="4572000" cy="1371600"/>
          </a:xfrm>
          <a:prstGeom prst="rect">
            <a:avLst/>
          </a:prstGeom>
          <a:noFill/>
        </p:spPr>
        <p:txBody>
          <a:bodyPr wrap="square">
            <a:spAutoFit/>
          </a:bodyPr>
          <a:lstStyle/>
          <a:p>
            <a:pPr algn="l">
              <a:defRPr sz="1400" b="0">
                <a:solidFill>
                  <a:srgbClr val="CCCCCC"/>
                </a:solidFill>
                <a:latin typeface="Calibri"/>
              </a:defRPr>
            </a:pPr>
            <a:r>
              <a:t>Stevens' Power Law: area perception</a:t>
            </a:r>
            <a:br/>
            <a:r>
              <a:t>exponent a ≈ 0.7 (compressive)</a:t>
            </a:r>
            <a:br/>
            <a:br/>
            <a:r>
              <a:t>Even humans cannot extract exact</a:t>
            </a:r>
            <a:br/>
            <a:r>
              <a:t>values from area encoding without labels.</a:t>
            </a:r>
            <a:br/>
            <a:br/>
            <a:r>
              <a:t>This is a benchmark design issue,</a:t>
            </a:r>
            <a:br/>
            <a:r>
              <a:t>not a VLM failure.</a:t>
            </a:r>
          </a:p>
        </p:txBody>
      </p:sp>
      <p:pic>
        <p:nvPicPr>
          <p:cNvPr id="10" name="Picture 9" descr="sample_treemap.png"/>
          <p:cNvPicPr>
            <a:picLocks noChangeAspect="1"/>
          </p:cNvPicPr>
          <p:nvPr/>
        </p:nvPicPr>
        <p:blipFill>
          <a:blip r:embed="rId2"/>
          <a:stretch>
            <a:fillRect/>
          </a:stretch>
        </p:blipFill>
        <p:spPr>
          <a:xfrm>
            <a:off x="5943600" y="1097280"/>
            <a:ext cx="5486400" cy="3657600"/>
          </a:xfrm>
          <a:prstGeom prst="rect">
            <a:avLst/>
          </a:prstGeom>
        </p:spPr>
      </p:pic>
      <p:sp>
        <p:nvSpPr>
          <p:cNvPr id="11" name="TextBox 10"/>
          <p:cNvSpPr txBox="1"/>
          <p:nvPr/>
        </p:nvSpPr>
        <p:spPr>
          <a:xfrm>
            <a:off x="5943600" y="5029200"/>
            <a:ext cx="5486400" cy="731520"/>
          </a:xfrm>
          <a:prstGeom prst="rect">
            <a:avLst/>
          </a:prstGeom>
          <a:noFill/>
        </p:spPr>
        <p:txBody>
          <a:bodyPr wrap="square">
            <a:spAutoFit/>
          </a:bodyPr>
          <a:lstStyle/>
          <a:p>
            <a:pPr algn="ctr">
              <a:defRPr sz="1200" b="0">
                <a:solidFill>
                  <a:srgbClr val="FF9800"/>
                </a:solidFill>
                <a:latin typeface="Calibri"/>
              </a:defRPr>
            </a:pPr>
            <a:r>
              <a:t>ChartX paper acknowledges: "the column label of</a:t>
            </a:r>
            <a:br/>
            <a:r>
              <a:t>values is usually invisible" for treemaps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731520" y="274320"/>
            <a:ext cx="10058400" cy="548640"/>
          </a:xfrm>
          <a:prstGeom prst="rect">
            <a:avLst/>
          </a:prstGeom>
          <a:noFill/>
        </p:spPr>
        <p:txBody>
          <a:bodyPr wrap="square">
            <a:spAutoFit/>
          </a:bodyPr>
          <a:lstStyle/>
          <a:p>
            <a:pPr algn="l">
              <a:defRPr sz="2800" b="1">
                <a:solidFill>
                  <a:srgbClr val="FFFFFF"/>
                </a:solidFill>
                <a:latin typeface="Calibri"/>
              </a:defRPr>
            </a:pPr>
            <a:r>
              <a:t>Failure Analysis: Why Weak Chart Types Fail</a:t>
            </a:r>
          </a:p>
        </p:txBody>
      </p:sp>
      <p:pic>
        <p:nvPicPr>
          <p:cNvPr id="3" name="Picture 2" descr="fig4_failure_analysis.png"/>
          <p:cNvPicPr>
            <a:picLocks noChangeAspect="1"/>
          </p:cNvPicPr>
          <p:nvPr/>
        </p:nvPicPr>
        <p:blipFill>
          <a:blip r:embed="rId2"/>
          <a:stretch>
            <a:fillRect/>
          </a:stretch>
        </p:blipFill>
        <p:spPr>
          <a:xfrm>
            <a:off x="457200" y="1097280"/>
            <a:ext cx="5486400" cy="4114800"/>
          </a:xfrm>
          <a:prstGeom prst="rect">
            <a:avLst/>
          </a:prstGeom>
        </p:spPr>
      </p:pic>
      <p:sp>
        <p:nvSpPr>
          <p:cNvPr id="4" name="TextBox 3"/>
          <p:cNvSpPr txBox="1"/>
          <p:nvPr/>
        </p:nvSpPr>
        <p:spPr>
          <a:xfrm>
            <a:off x="6400800" y="1097280"/>
            <a:ext cx="5029200" cy="457200"/>
          </a:xfrm>
          <a:prstGeom prst="rect">
            <a:avLst/>
          </a:prstGeom>
          <a:noFill/>
        </p:spPr>
        <p:txBody>
          <a:bodyPr wrap="square">
            <a:spAutoFit/>
          </a:bodyPr>
          <a:lstStyle/>
          <a:p>
            <a:pPr algn="l">
              <a:defRPr sz="2000" b="1">
                <a:solidFill>
                  <a:srgbClr val="0096FF"/>
                </a:solidFill>
                <a:latin typeface="Calibri"/>
              </a:defRPr>
            </a:pPr>
            <a:r>
              <a:t>Root Causes</a:t>
            </a:r>
          </a:p>
        </p:txBody>
      </p:sp>
      <p:sp>
        <p:nvSpPr>
          <p:cNvPr id="5" name="TextBox 4"/>
          <p:cNvSpPr txBox="1"/>
          <p:nvPr/>
        </p:nvSpPr>
        <p:spPr>
          <a:xfrm>
            <a:off x="6400800" y="1828800"/>
            <a:ext cx="5029200" cy="365760"/>
          </a:xfrm>
          <a:prstGeom prst="rect">
            <a:avLst/>
          </a:prstGeom>
          <a:noFill/>
        </p:spPr>
        <p:txBody>
          <a:bodyPr wrap="square">
            <a:spAutoFit/>
          </a:bodyPr>
          <a:lstStyle/>
          <a:p>
            <a:pPr algn="l">
              <a:defRPr sz="1400" b="1">
                <a:solidFill>
                  <a:srgbClr val="F44336"/>
                </a:solidFill>
                <a:latin typeface="Calibri"/>
              </a:defRPr>
            </a:pPr>
            <a:r>
              <a:t>Treemap (51.6%)</a:t>
            </a:r>
          </a:p>
        </p:txBody>
      </p:sp>
      <p:sp>
        <p:nvSpPr>
          <p:cNvPr id="6" name="TextBox 5"/>
          <p:cNvSpPr txBox="1"/>
          <p:nvPr/>
        </p:nvSpPr>
        <p:spPr>
          <a:xfrm>
            <a:off x="6400800" y="2148840"/>
            <a:ext cx="5029200" cy="548640"/>
          </a:xfrm>
          <a:prstGeom prst="rect">
            <a:avLst/>
          </a:prstGeom>
          <a:noFill/>
        </p:spPr>
        <p:txBody>
          <a:bodyPr wrap="square">
            <a:spAutoFit/>
          </a:bodyPr>
          <a:lstStyle/>
          <a:p>
            <a:pPr algn="l">
              <a:defRPr sz="1200" b="0">
                <a:solidFill>
                  <a:srgbClr val="CCCCCC"/>
                </a:solidFill>
                <a:latin typeface="Calibri"/>
              </a:defRPr>
            </a:pPr>
            <a:r>
              <a:t>No numbers visible in image.</a:t>
            </a:r>
            <a:br/>
            <a:r>
              <a:t>Must guess % from rectangle area.</a:t>
            </a:r>
          </a:p>
        </p:txBody>
      </p:sp>
      <p:sp>
        <p:nvSpPr>
          <p:cNvPr id="7" name="TextBox 6"/>
          <p:cNvSpPr txBox="1"/>
          <p:nvPr/>
        </p:nvSpPr>
        <p:spPr>
          <a:xfrm>
            <a:off x="6400800" y="2926080"/>
            <a:ext cx="5029200" cy="365760"/>
          </a:xfrm>
          <a:prstGeom prst="rect">
            <a:avLst/>
          </a:prstGeom>
          <a:noFill/>
        </p:spPr>
        <p:txBody>
          <a:bodyPr wrap="square">
            <a:spAutoFit/>
          </a:bodyPr>
          <a:lstStyle/>
          <a:p>
            <a:pPr algn="l">
              <a:defRPr sz="1400" b="1">
                <a:solidFill>
                  <a:srgbClr val="F44336"/>
                </a:solidFill>
                <a:latin typeface="Calibri"/>
              </a:defRPr>
            </a:pPr>
            <a:r>
              <a:t>Radar (68.2%)</a:t>
            </a:r>
          </a:p>
        </p:txBody>
      </p:sp>
      <p:sp>
        <p:nvSpPr>
          <p:cNvPr id="8" name="TextBox 7"/>
          <p:cNvSpPr txBox="1"/>
          <p:nvPr/>
        </p:nvSpPr>
        <p:spPr>
          <a:xfrm>
            <a:off x="6400800" y="3246120"/>
            <a:ext cx="5029200" cy="548640"/>
          </a:xfrm>
          <a:prstGeom prst="rect">
            <a:avLst/>
          </a:prstGeom>
          <a:noFill/>
        </p:spPr>
        <p:txBody>
          <a:bodyPr wrap="square">
            <a:spAutoFit/>
          </a:bodyPr>
          <a:lstStyle/>
          <a:p>
            <a:pPr algn="l">
              <a:defRPr sz="1200" b="0">
                <a:solidFill>
                  <a:srgbClr val="CCCCCC"/>
                </a:solidFill>
                <a:latin typeface="Calibri"/>
              </a:defRPr>
            </a:pPr>
            <a:r>
              <a:t>Overlapping series on polar axes.</a:t>
            </a:r>
            <a:br/>
            <a:r>
              <a:t>22% are format mismatches.</a:t>
            </a:r>
          </a:p>
        </p:txBody>
      </p:sp>
      <p:sp>
        <p:nvSpPr>
          <p:cNvPr id="9" name="TextBox 8"/>
          <p:cNvSpPr txBox="1"/>
          <p:nvPr/>
        </p:nvSpPr>
        <p:spPr>
          <a:xfrm>
            <a:off x="6400800" y="4023360"/>
            <a:ext cx="5029200" cy="365760"/>
          </a:xfrm>
          <a:prstGeom prst="rect">
            <a:avLst/>
          </a:prstGeom>
          <a:noFill/>
        </p:spPr>
        <p:txBody>
          <a:bodyPr wrap="square">
            <a:spAutoFit/>
          </a:bodyPr>
          <a:lstStyle/>
          <a:p>
            <a:pPr algn="l">
              <a:defRPr sz="1400" b="1">
                <a:solidFill>
                  <a:srgbClr val="F44336"/>
                </a:solidFill>
                <a:latin typeface="Calibri"/>
              </a:defRPr>
            </a:pPr>
            <a:r>
              <a:t>Bubble (71.1%)</a:t>
            </a:r>
          </a:p>
        </p:txBody>
      </p:sp>
      <p:sp>
        <p:nvSpPr>
          <p:cNvPr id="10" name="TextBox 9"/>
          <p:cNvSpPr txBox="1"/>
          <p:nvPr/>
        </p:nvSpPr>
        <p:spPr>
          <a:xfrm>
            <a:off x="6400800" y="4343400"/>
            <a:ext cx="5029200" cy="548640"/>
          </a:xfrm>
          <a:prstGeom prst="rect">
            <a:avLst/>
          </a:prstGeom>
          <a:noFill/>
        </p:spPr>
        <p:txBody>
          <a:bodyPr wrap="square">
            <a:spAutoFit/>
          </a:bodyPr>
          <a:lstStyle/>
          <a:p>
            <a:pPr algn="l">
              <a:defRPr sz="1200" b="0">
                <a:solidFill>
                  <a:srgbClr val="CCCCCC"/>
                </a:solidFill>
                <a:latin typeface="Calibri"/>
              </a:defRPr>
            </a:pPr>
            <a:r>
              <a:t>Size encoding is ambiguous.</a:t>
            </a:r>
            <a:br/>
            <a:r>
              <a:t>Can't read values from bubble diameter.</a:t>
            </a:r>
          </a:p>
        </p:txBody>
      </p:sp>
      <p:sp>
        <p:nvSpPr>
          <p:cNvPr id="11" name="TextBox 10"/>
          <p:cNvSpPr txBox="1"/>
          <p:nvPr/>
        </p:nvSpPr>
        <p:spPr>
          <a:xfrm>
            <a:off x="6400800" y="5120640"/>
            <a:ext cx="5029200" cy="365760"/>
          </a:xfrm>
          <a:prstGeom prst="rect">
            <a:avLst/>
          </a:prstGeom>
          <a:noFill/>
        </p:spPr>
        <p:txBody>
          <a:bodyPr wrap="square">
            <a:spAutoFit/>
          </a:bodyPr>
          <a:lstStyle/>
          <a:p>
            <a:pPr algn="l">
              <a:defRPr sz="1400" b="1">
                <a:solidFill>
                  <a:srgbClr val="F44336"/>
                </a:solidFill>
                <a:latin typeface="Calibri"/>
              </a:defRPr>
            </a:pPr>
            <a:r>
              <a:t>Area (77.4%)</a:t>
            </a:r>
          </a:p>
        </p:txBody>
      </p:sp>
      <p:sp>
        <p:nvSpPr>
          <p:cNvPr id="12" name="TextBox 11"/>
          <p:cNvSpPr txBox="1"/>
          <p:nvPr/>
        </p:nvSpPr>
        <p:spPr>
          <a:xfrm>
            <a:off x="6400800" y="5440680"/>
            <a:ext cx="5029200" cy="548640"/>
          </a:xfrm>
          <a:prstGeom prst="rect">
            <a:avLst/>
          </a:prstGeom>
          <a:noFill/>
        </p:spPr>
        <p:txBody>
          <a:bodyPr wrap="square">
            <a:spAutoFit/>
          </a:bodyPr>
          <a:lstStyle/>
          <a:p>
            <a:pPr algn="l">
              <a:defRPr sz="1200" b="0">
                <a:solidFill>
                  <a:srgbClr val="CCCCCC"/>
                </a:solidFill>
                <a:latin typeface="Calibri"/>
              </a:defRPr>
            </a:pPr>
            <a:r>
              <a:t>Stacked fills confuse individual</a:t>
            </a:r>
            <a:br/>
            <a:r>
              <a:t>vs cumulative values.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731520" y="274320"/>
            <a:ext cx="10058400" cy="548640"/>
          </a:xfrm>
          <a:prstGeom prst="rect">
            <a:avLst/>
          </a:prstGeom>
          <a:noFill/>
        </p:spPr>
        <p:txBody>
          <a:bodyPr wrap="square">
            <a:spAutoFit/>
          </a:bodyPr>
          <a:lstStyle/>
          <a:p>
            <a:pPr algn="l">
              <a:defRPr sz="2800" b="1">
                <a:solidFill>
                  <a:srgbClr val="FFFFFF"/>
                </a:solidFill>
                <a:latin typeface="Calibri"/>
              </a:defRPr>
            </a:pPr>
            <a:r>
              <a:t>Six Design Guidelines for VLM-Assisted Analytics</a:t>
            </a:r>
          </a:p>
        </p:txBody>
      </p:sp>
      <p:sp>
        <p:nvSpPr>
          <p:cNvPr id="3" name="Rounded Rectangle 2"/>
          <p:cNvSpPr/>
          <p:nvPr/>
        </p:nvSpPr>
        <p:spPr>
          <a:xfrm>
            <a:off x="731520" y="1097280"/>
            <a:ext cx="640080" cy="457200"/>
          </a:xfrm>
          <a:prstGeom prst="round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defRPr>
            </a:pPr>
            <a:r>
              <a:t>G1</a:t>
            </a:r>
          </a:p>
        </p:txBody>
      </p:sp>
      <p:sp>
        <p:nvSpPr>
          <p:cNvPr id="4" name="TextBox 3"/>
          <p:cNvSpPr txBox="1"/>
          <p:nvPr/>
        </p:nvSpPr>
        <p:spPr>
          <a:xfrm>
            <a:off x="1554480" y="1097280"/>
            <a:ext cx="4572000" cy="365760"/>
          </a:xfrm>
          <a:prstGeom prst="rect">
            <a:avLst/>
          </a:prstGeom>
          <a:noFill/>
        </p:spPr>
        <p:txBody>
          <a:bodyPr wrap="square">
            <a:spAutoFit/>
          </a:bodyPr>
          <a:lstStyle/>
          <a:p>
            <a:pPr algn="l">
              <a:defRPr sz="1600" b="1">
                <a:solidFill>
                  <a:srgbClr val="FFFFFF"/>
                </a:solidFill>
                <a:latin typeface="Calibri"/>
              </a:defRPr>
            </a:pPr>
            <a:r>
              <a:t>Use position-encoded charts</a:t>
            </a:r>
          </a:p>
        </p:txBody>
      </p:sp>
      <p:sp>
        <p:nvSpPr>
          <p:cNvPr id="5" name="TextBox 4"/>
          <p:cNvSpPr txBox="1"/>
          <p:nvPr/>
        </p:nvSpPr>
        <p:spPr>
          <a:xfrm>
            <a:off x="1554480" y="1417320"/>
            <a:ext cx="4572000" cy="365760"/>
          </a:xfrm>
          <a:prstGeom prst="rect">
            <a:avLst/>
          </a:prstGeom>
          <a:noFill/>
        </p:spPr>
        <p:txBody>
          <a:bodyPr wrap="square">
            <a:spAutoFit/>
          </a:bodyPr>
          <a:lstStyle/>
          <a:p>
            <a:pPr algn="l">
              <a:defRPr sz="1300" b="0">
                <a:solidFill>
                  <a:srgbClr val="CCCCCC"/>
                </a:solidFill>
                <a:latin typeface="Calibri"/>
              </a:defRPr>
            </a:pPr>
            <a:r>
              <a:t>(bar, line) for VLM tasks — 90%+ accuracy</a:t>
            </a:r>
          </a:p>
        </p:txBody>
      </p:sp>
      <p:sp>
        <p:nvSpPr>
          <p:cNvPr id="6" name="Rounded Rectangle 5"/>
          <p:cNvSpPr/>
          <p:nvPr/>
        </p:nvSpPr>
        <p:spPr>
          <a:xfrm>
            <a:off x="731520" y="1965960"/>
            <a:ext cx="640080" cy="457200"/>
          </a:xfrm>
          <a:prstGeom prst="round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defRPr>
            </a:pPr>
            <a:r>
              <a:t>G2</a:t>
            </a:r>
          </a:p>
        </p:txBody>
      </p:sp>
      <p:sp>
        <p:nvSpPr>
          <p:cNvPr id="7" name="TextBox 6"/>
          <p:cNvSpPr txBox="1"/>
          <p:nvPr/>
        </p:nvSpPr>
        <p:spPr>
          <a:xfrm>
            <a:off x="1554480" y="1965960"/>
            <a:ext cx="4572000" cy="365760"/>
          </a:xfrm>
          <a:prstGeom prst="rect">
            <a:avLst/>
          </a:prstGeom>
          <a:noFill/>
        </p:spPr>
        <p:txBody>
          <a:bodyPr wrap="square">
            <a:spAutoFit/>
          </a:bodyPr>
          <a:lstStyle/>
          <a:p>
            <a:pPr algn="l">
              <a:defRPr sz="1600" b="1">
                <a:solidFill>
                  <a:srgbClr val="FFFFFF"/>
                </a:solidFill>
                <a:latin typeface="Calibri"/>
              </a:defRPr>
            </a:pPr>
            <a:r>
              <a:t>Always include numeric labels</a:t>
            </a:r>
          </a:p>
        </p:txBody>
      </p:sp>
      <p:sp>
        <p:nvSpPr>
          <p:cNvPr id="8" name="TextBox 7"/>
          <p:cNvSpPr txBox="1"/>
          <p:nvPr/>
        </p:nvSpPr>
        <p:spPr>
          <a:xfrm>
            <a:off x="1554480" y="2286000"/>
            <a:ext cx="4572000" cy="365760"/>
          </a:xfrm>
          <a:prstGeom prst="rect">
            <a:avLst/>
          </a:prstGeom>
          <a:noFill/>
        </p:spPr>
        <p:txBody>
          <a:bodyPr wrap="square">
            <a:spAutoFit/>
          </a:bodyPr>
          <a:lstStyle/>
          <a:p>
            <a:pPr algn="l">
              <a:defRPr sz="1300" b="0">
                <a:solidFill>
                  <a:srgbClr val="CCCCCC"/>
                </a:solidFill>
                <a:latin typeface="Calibri"/>
              </a:defRPr>
            </a:pPr>
            <a:r>
              <a:t>Transforms estimation → text reading (+4.4pp)</a:t>
            </a:r>
          </a:p>
        </p:txBody>
      </p:sp>
      <p:sp>
        <p:nvSpPr>
          <p:cNvPr id="9" name="Rounded Rectangle 8"/>
          <p:cNvSpPr/>
          <p:nvPr/>
        </p:nvSpPr>
        <p:spPr>
          <a:xfrm>
            <a:off x="731520" y="2834639"/>
            <a:ext cx="640080" cy="457200"/>
          </a:xfrm>
          <a:prstGeom prst="round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defRPr>
            </a:pPr>
            <a:r>
              <a:t>G3</a:t>
            </a:r>
          </a:p>
        </p:txBody>
      </p:sp>
      <p:sp>
        <p:nvSpPr>
          <p:cNvPr id="10" name="TextBox 9"/>
          <p:cNvSpPr txBox="1"/>
          <p:nvPr/>
        </p:nvSpPr>
        <p:spPr>
          <a:xfrm>
            <a:off x="1554480" y="2834639"/>
            <a:ext cx="4572000" cy="365760"/>
          </a:xfrm>
          <a:prstGeom prst="rect">
            <a:avLst/>
          </a:prstGeom>
          <a:noFill/>
        </p:spPr>
        <p:txBody>
          <a:bodyPr wrap="square">
            <a:spAutoFit/>
          </a:bodyPr>
          <a:lstStyle/>
          <a:p>
            <a:pPr algn="l">
              <a:defRPr sz="1600" b="1">
                <a:solidFill>
                  <a:srgbClr val="FFFFFF"/>
                </a:solidFill>
                <a:latin typeface="Calibri"/>
              </a:defRPr>
            </a:pPr>
            <a:r>
              <a:t>Flatten 3D before VLM processing</a:t>
            </a:r>
          </a:p>
        </p:txBody>
      </p:sp>
      <p:sp>
        <p:nvSpPr>
          <p:cNvPr id="11" name="TextBox 10"/>
          <p:cNvSpPr txBox="1"/>
          <p:nvPr/>
        </p:nvSpPr>
        <p:spPr>
          <a:xfrm>
            <a:off x="1554480" y="3154679"/>
            <a:ext cx="4572000" cy="365760"/>
          </a:xfrm>
          <a:prstGeom prst="rect">
            <a:avLst/>
          </a:prstGeom>
          <a:noFill/>
        </p:spPr>
        <p:txBody>
          <a:bodyPr wrap="square">
            <a:spAutoFit/>
          </a:bodyPr>
          <a:lstStyle/>
          <a:p>
            <a:pPr algn="l">
              <a:defRPr sz="1300" b="0">
                <a:solidFill>
                  <a:srgbClr val="CCCCCC"/>
                </a:solidFill>
                <a:latin typeface="Calibri"/>
              </a:defRPr>
            </a:pPr>
            <a:r>
              <a:t>Render 2D projections or provide data tables</a:t>
            </a:r>
          </a:p>
        </p:txBody>
      </p:sp>
      <p:sp>
        <p:nvSpPr>
          <p:cNvPr id="12" name="Rounded Rectangle 11"/>
          <p:cNvSpPr/>
          <p:nvPr/>
        </p:nvSpPr>
        <p:spPr>
          <a:xfrm>
            <a:off x="731520" y="3703320"/>
            <a:ext cx="640080" cy="457200"/>
          </a:xfrm>
          <a:prstGeom prst="round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defRPr>
            </a:pPr>
            <a:r>
              <a:t>G4</a:t>
            </a:r>
          </a:p>
        </p:txBody>
      </p:sp>
      <p:sp>
        <p:nvSpPr>
          <p:cNvPr id="13" name="TextBox 12"/>
          <p:cNvSpPr txBox="1"/>
          <p:nvPr/>
        </p:nvSpPr>
        <p:spPr>
          <a:xfrm>
            <a:off x="1554480" y="3703320"/>
            <a:ext cx="4572000" cy="365760"/>
          </a:xfrm>
          <a:prstGeom prst="rect">
            <a:avLst/>
          </a:prstGeom>
          <a:noFill/>
        </p:spPr>
        <p:txBody>
          <a:bodyPr wrap="square">
            <a:spAutoFit/>
          </a:bodyPr>
          <a:lstStyle/>
          <a:p>
            <a:pPr algn="l">
              <a:defRPr sz="1600" b="1">
                <a:solidFill>
                  <a:srgbClr val="FFFFFF"/>
                </a:solidFill>
                <a:latin typeface="Calibri"/>
              </a:defRPr>
            </a:pPr>
            <a:r>
              <a:t>Tiered scoring tolerance</a:t>
            </a:r>
          </a:p>
        </p:txBody>
      </p:sp>
      <p:sp>
        <p:nvSpPr>
          <p:cNvPr id="14" name="TextBox 13"/>
          <p:cNvSpPr txBox="1"/>
          <p:nvPr/>
        </p:nvSpPr>
        <p:spPr>
          <a:xfrm>
            <a:off x="1554480" y="4023360"/>
            <a:ext cx="4572000" cy="365760"/>
          </a:xfrm>
          <a:prstGeom prst="rect">
            <a:avLst/>
          </a:prstGeom>
          <a:noFill/>
        </p:spPr>
        <p:txBody>
          <a:bodyPr wrap="square">
            <a:spAutoFit/>
          </a:bodyPr>
          <a:lstStyle/>
          <a:p>
            <a:pPr algn="l">
              <a:defRPr sz="1300" b="0">
                <a:solidFill>
                  <a:srgbClr val="CCCCCC"/>
                </a:solidFill>
                <a:latin typeface="Calibri"/>
              </a:defRPr>
            </a:pPr>
            <a:r>
              <a:t>5% for bar/line, 15% for pie, 25% for treemap</a:t>
            </a:r>
          </a:p>
        </p:txBody>
      </p:sp>
      <p:sp>
        <p:nvSpPr>
          <p:cNvPr id="15" name="Rounded Rectangle 14"/>
          <p:cNvSpPr/>
          <p:nvPr/>
        </p:nvSpPr>
        <p:spPr>
          <a:xfrm>
            <a:off x="731520" y="4572000"/>
            <a:ext cx="640080" cy="457200"/>
          </a:xfrm>
          <a:prstGeom prst="round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defRPr>
            </a:pPr>
            <a:r>
              <a:t>G5</a:t>
            </a:r>
          </a:p>
        </p:txBody>
      </p:sp>
      <p:sp>
        <p:nvSpPr>
          <p:cNvPr id="16" name="TextBox 15"/>
          <p:cNvSpPr txBox="1"/>
          <p:nvPr/>
        </p:nvSpPr>
        <p:spPr>
          <a:xfrm>
            <a:off x="1554480" y="4572000"/>
            <a:ext cx="4572000" cy="365760"/>
          </a:xfrm>
          <a:prstGeom prst="rect">
            <a:avLst/>
          </a:prstGeom>
          <a:noFill/>
        </p:spPr>
        <p:txBody>
          <a:bodyPr wrap="square">
            <a:spAutoFit/>
          </a:bodyPr>
          <a:lstStyle/>
          <a:p>
            <a:pPr algn="l">
              <a:defRPr sz="1600" b="1">
                <a:solidFill>
                  <a:srgbClr val="FFFFFF"/>
                </a:solidFill>
                <a:latin typeface="Calibri"/>
              </a:defRPr>
            </a:pPr>
            <a:r>
              <a:t>Describe → Extract → Reason</a:t>
            </a:r>
          </a:p>
        </p:txBody>
      </p:sp>
      <p:sp>
        <p:nvSpPr>
          <p:cNvPr id="17" name="TextBox 16"/>
          <p:cNvSpPr txBox="1"/>
          <p:nvPr/>
        </p:nvSpPr>
        <p:spPr>
          <a:xfrm>
            <a:off x="1554480" y="4892040"/>
            <a:ext cx="4572000" cy="365760"/>
          </a:xfrm>
          <a:prstGeom prst="rect">
            <a:avLst/>
          </a:prstGeom>
          <a:noFill/>
        </p:spPr>
        <p:txBody>
          <a:bodyPr wrap="square">
            <a:spAutoFit/>
          </a:bodyPr>
          <a:lstStyle/>
          <a:p>
            <a:pPr algn="l">
              <a:defRPr sz="1300" b="0">
                <a:solidFill>
                  <a:srgbClr val="CCCCCC"/>
                </a:solidFill>
                <a:latin typeface="Calibri"/>
              </a:defRPr>
            </a:pPr>
            <a:r>
              <a:t>Structure prompts as multi-step pipelines</a:t>
            </a:r>
          </a:p>
        </p:txBody>
      </p:sp>
      <p:sp>
        <p:nvSpPr>
          <p:cNvPr id="18" name="Rounded Rectangle 17"/>
          <p:cNvSpPr/>
          <p:nvPr/>
        </p:nvSpPr>
        <p:spPr>
          <a:xfrm>
            <a:off x="731520" y="5440680"/>
            <a:ext cx="640080" cy="457200"/>
          </a:xfrm>
          <a:prstGeom prst="round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defRPr>
            </a:pPr>
            <a:r>
              <a:t>G6</a:t>
            </a:r>
          </a:p>
        </p:txBody>
      </p:sp>
      <p:sp>
        <p:nvSpPr>
          <p:cNvPr id="19" name="TextBox 18"/>
          <p:cNvSpPr txBox="1"/>
          <p:nvPr/>
        </p:nvSpPr>
        <p:spPr>
          <a:xfrm>
            <a:off x="1554480" y="5440680"/>
            <a:ext cx="4572000" cy="365760"/>
          </a:xfrm>
          <a:prstGeom prst="rect">
            <a:avLst/>
          </a:prstGeom>
          <a:noFill/>
        </p:spPr>
        <p:txBody>
          <a:bodyPr wrap="square">
            <a:spAutoFit/>
          </a:bodyPr>
          <a:lstStyle/>
          <a:p>
            <a:pPr algn="l">
              <a:defRPr sz="1600" b="1">
                <a:solidFill>
                  <a:srgbClr val="FFFFFF"/>
                </a:solidFill>
                <a:latin typeface="Calibri"/>
              </a:defRPr>
            </a:pPr>
            <a:r>
              <a:t>VLM-interpretable layer in VR</a:t>
            </a:r>
          </a:p>
        </p:txBody>
      </p:sp>
      <p:sp>
        <p:nvSpPr>
          <p:cNvPr id="20" name="TextBox 19"/>
          <p:cNvSpPr txBox="1"/>
          <p:nvPr/>
        </p:nvSpPr>
        <p:spPr>
          <a:xfrm>
            <a:off x="1554480" y="5760720"/>
            <a:ext cx="4572000" cy="365760"/>
          </a:xfrm>
          <a:prstGeom prst="rect">
            <a:avLst/>
          </a:prstGeom>
          <a:noFill/>
        </p:spPr>
        <p:txBody>
          <a:bodyPr wrap="square">
            <a:spAutoFit/>
          </a:bodyPr>
          <a:lstStyle/>
          <a:p>
            <a:pPr algn="l">
              <a:defRPr sz="1300" b="0">
                <a:solidFill>
                  <a:srgbClr val="CCCCCC"/>
                </a:solidFill>
                <a:latin typeface="Calibri"/>
              </a:defRPr>
            </a:pPr>
            <a:r>
              <a:t>Pass DXR JSON specs alongside viewport images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731520" y="274320"/>
            <a:ext cx="10058400" cy="548640"/>
          </a:xfrm>
          <a:prstGeom prst="rect">
            <a:avLst/>
          </a:prstGeom>
          <a:noFill/>
        </p:spPr>
        <p:txBody>
          <a:bodyPr wrap="square">
            <a:spAutoFit/>
          </a:bodyPr>
          <a:lstStyle/>
          <a:p>
            <a:pPr algn="l">
              <a:defRPr sz="2800" b="1">
                <a:solidFill>
                  <a:srgbClr val="FFFFFF"/>
                </a:solidFill>
                <a:latin typeface="Calibri"/>
              </a:defRPr>
            </a:pPr>
            <a:r>
              <a:t>Connection to Immersive Analytics (DXR Toolkit)</a:t>
            </a:r>
          </a:p>
        </p:txBody>
      </p:sp>
      <p:sp>
        <p:nvSpPr>
          <p:cNvPr id="3" name="TextBox 2"/>
          <p:cNvSpPr txBox="1"/>
          <p:nvPr/>
        </p:nvSpPr>
        <p:spPr>
          <a:xfrm>
            <a:off x="731520" y="1097280"/>
            <a:ext cx="5029200" cy="457200"/>
          </a:xfrm>
          <a:prstGeom prst="rect">
            <a:avLst/>
          </a:prstGeom>
          <a:noFill/>
        </p:spPr>
        <p:txBody>
          <a:bodyPr wrap="square">
            <a:spAutoFit/>
          </a:bodyPr>
          <a:lstStyle/>
          <a:p>
            <a:pPr algn="l">
              <a:defRPr sz="1800" b="1">
                <a:solidFill>
                  <a:srgbClr val="0096FF"/>
                </a:solidFill>
                <a:latin typeface="Calibri"/>
              </a:defRPr>
            </a:pPr>
            <a:r>
              <a:t>DXR: Declarative Immersive Visualization</a:t>
            </a:r>
          </a:p>
        </p:txBody>
      </p:sp>
      <p:sp>
        <p:nvSpPr>
          <p:cNvPr id="4" name="TextBox 3"/>
          <p:cNvSpPr txBox="1"/>
          <p:nvPr/>
        </p:nvSpPr>
        <p:spPr>
          <a:xfrm>
            <a:off x="731520" y="1645920"/>
            <a:ext cx="5029200" cy="2743200"/>
          </a:xfrm>
          <a:prstGeom prst="rect">
            <a:avLst/>
          </a:prstGeom>
          <a:noFill/>
        </p:spPr>
        <p:txBody>
          <a:bodyPr wrap="square">
            <a:spAutoFit/>
          </a:bodyPr>
          <a:lstStyle/>
          <a:p>
            <a:pPr>
              <a:spcAft>
                <a:spcPts val="600"/>
              </a:spcAft>
              <a:defRPr sz="1400">
                <a:solidFill>
                  <a:srgbClr val="FFFFFF"/>
                </a:solidFill>
                <a:latin typeface="Calibri"/>
              </a:defRPr>
            </a:pPr>
            <a:r>
              <a:t>•  Unity toolkit for VR/AR data visualization</a:t>
            </a:r>
          </a:p>
          <a:p>
            <a:pPr>
              <a:spcAft>
                <a:spcPts val="600"/>
              </a:spcAft>
              <a:defRPr sz="1400">
                <a:solidFill>
                  <a:srgbClr val="FFFFFF"/>
                </a:solidFill>
                <a:latin typeface="Calibri"/>
              </a:defRPr>
            </a:pPr>
            <a:r>
              <a:t>•  Vega-Lite-inspired JSON specification</a:t>
            </a:r>
          </a:p>
          <a:p>
            <a:pPr>
              <a:spcAft>
                <a:spcPts val="600"/>
              </a:spcAft>
              <a:defRPr sz="1400">
                <a:solidFill>
                  <a:srgbClr val="FFFFFF"/>
                </a:solidFill>
                <a:latin typeface="Calibri"/>
              </a:defRPr>
            </a:pPr>
            <a:r>
              <a:t>•  20 mark types (cube, sphere, bar, etc.)</a:t>
            </a:r>
          </a:p>
          <a:p>
            <a:pPr>
              <a:spcAft>
                <a:spcPts val="600"/>
              </a:spcAft>
              <a:defRPr sz="1400">
                <a:solidFill>
                  <a:srgbClr val="FFFFFF"/>
                </a:solidFill>
                <a:latin typeface="Calibri"/>
              </a:defRPr>
            </a:pPr>
            <a:r>
              <a:t>•  Deploys on Meta Quest headsets</a:t>
            </a:r>
          </a:p>
          <a:p>
            <a:pPr>
              <a:spcAft>
                <a:spcPts val="600"/>
              </a:spcAft>
              <a:defRPr sz="1400">
                <a:solidFill>
                  <a:srgbClr val="FFFFFF"/>
                </a:solidFill>
                <a:latin typeface="Calibri"/>
              </a:defRPr>
            </a:pPr>
            <a:r>
              <a:t>•  Renders 3D bar, scatter, heatmap, etc.</a:t>
            </a:r>
          </a:p>
        </p:txBody>
      </p:sp>
      <p:sp>
        <p:nvSpPr>
          <p:cNvPr id="5" name="TextBox 4"/>
          <p:cNvSpPr txBox="1"/>
          <p:nvPr/>
        </p:nvSpPr>
        <p:spPr>
          <a:xfrm>
            <a:off x="731520" y="4114800"/>
            <a:ext cx="5029200" cy="457200"/>
          </a:xfrm>
          <a:prstGeom prst="rect">
            <a:avLst/>
          </a:prstGeom>
          <a:noFill/>
        </p:spPr>
        <p:txBody>
          <a:bodyPr wrap="square">
            <a:spAutoFit/>
          </a:bodyPr>
          <a:lstStyle/>
          <a:p>
            <a:pPr algn="l">
              <a:defRPr sz="1800" b="1">
                <a:solidFill>
                  <a:srgbClr val="0096FF"/>
                </a:solidFill>
                <a:latin typeface="Calibri"/>
              </a:defRPr>
            </a:pPr>
            <a:r>
              <a:t>How Our Results Apply</a:t>
            </a:r>
          </a:p>
        </p:txBody>
      </p:sp>
      <p:sp>
        <p:nvSpPr>
          <p:cNvPr id="6" name="TextBox 5"/>
          <p:cNvSpPr txBox="1"/>
          <p:nvPr/>
        </p:nvSpPr>
        <p:spPr>
          <a:xfrm>
            <a:off x="731520" y="4663440"/>
            <a:ext cx="5029200" cy="1828800"/>
          </a:xfrm>
          <a:prstGeom prst="rect">
            <a:avLst/>
          </a:prstGeom>
          <a:noFill/>
        </p:spPr>
        <p:txBody>
          <a:bodyPr wrap="square">
            <a:spAutoFit/>
          </a:bodyPr>
          <a:lstStyle/>
          <a:p>
            <a:pPr>
              <a:spcAft>
                <a:spcPts val="600"/>
              </a:spcAft>
              <a:defRPr sz="1400">
                <a:solidFill>
                  <a:srgbClr val="FFFFFF"/>
                </a:solidFill>
                <a:latin typeface="Calibri"/>
              </a:defRPr>
            </a:pPr>
            <a:r>
              <a:t>•  DXR renders 3D charts → VLM sees viewport screenshot</a:t>
            </a:r>
          </a:p>
          <a:p>
            <a:pPr>
              <a:spcAft>
                <a:spcPts val="600"/>
              </a:spcAft>
              <a:defRPr sz="1400">
                <a:solidFill>
                  <a:srgbClr val="FFFFFF"/>
                </a:solidFill>
                <a:latin typeface="Calibri"/>
              </a:defRPr>
            </a:pPr>
            <a:r>
              <a:t>•  Our 3D results (59.3%) predict VLM accuracy in VR</a:t>
            </a:r>
          </a:p>
          <a:p>
            <a:pPr>
              <a:spcAft>
                <a:spcPts val="600"/>
              </a:spcAft>
              <a:defRPr sz="1400">
                <a:solidFill>
                  <a:srgbClr val="FFFFFF"/>
                </a:solidFill>
                <a:latin typeface="Calibri"/>
              </a:defRPr>
            </a:pPr>
            <a:r>
              <a:t>•  G6: Pass DXR JSON specs as structured context</a:t>
            </a:r>
          </a:p>
          <a:p>
            <a:pPr>
              <a:spcAft>
                <a:spcPts val="600"/>
              </a:spcAft>
              <a:defRPr sz="1400">
                <a:solidFill>
                  <a:srgbClr val="FFFFFF"/>
                </a:solidFill>
                <a:latin typeface="Calibri"/>
              </a:defRPr>
            </a:pPr>
            <a:r>
              <a:t>•  G3: Flatten 3D → 2D before querying VLM</a:t>
            </a:r>
          </a:p>
        </p:txBody>
      </p:sp>
      <p:sp>
        <p:nvSpPr>
          <p:cNvPr id="7" name="TextBox 6"/>
          <p:cNvSpPr txBox="1"/>
          <p:nvPr/>
        </p:nvSpPr>
        <p:spPr>
          <a:xfrm>
            <a:off x="6400800" y="1097280"/>
            <a:ext cx="5029200" cy="457200"/>
          </a:xfrm>
          <a:prstGeom prst="rect">
            <a:avLst/>
          </a:prstGeom>
          <a:noFill/>
        </p:spPr>
        <p:txBody>
          <a:bodyPr wrap="square">
            <a:spAutoFit/>
          </a:bodyPr>
          <a:lstStyle/>
          <a:p>
            <a:pPr algn="l">
              <a:defRPr sz="1800" b="1">
                <a:solidFill>
                  <a:srgbClr val="0096FF"/>
                </a:solidFill>
                <a:latin typeface="Calibri"/>
              </a:defRPr>
            </a:pPr>
            <a:r>
              <a:t>Proposed VLM + DXR Architecture</a:t>
            </a:r>
          </a:p>
        </p:txBody>
      </p:sp>
      <p:sp>
        <p:nvSpPr>
          <p:cNvPr id="8" name="TextBox 7"/>
          <p:cNvSpPr txBox="1"/>
          <p:nvPr/>
        </p:nvSpPr>
        <p:spPr>
          <a:xfrm>
            <a:off x="6858000" y="1737360"/>
            <a:ext cx="4572000" cy="365760"/>
          </a:xfrm>
          <a:prstGeom prst="rect">
            <a:avLst/>
          </a:prstGeom>
          <a:noFill/>
        </p:spPr>
        <p:txBody>
          <a:bodyPr wrap="square">
            <a:spAutoFit/>
          </a:bodyPr>
          <a:lstStyle/>
          <a:p>
            <a:pPr algn="ctr">
              <a:defRPr sz="1400" b="0">
                <a:solidFill>
                  <a:srgbClr val="FFFFFF"/>
                </a:solidFill>
                <a:latin typeface="Calibri"/>
              </a:defRPr>
            </a:pPr>
            <a:r>
              <a:t>User sees 3D chart in VR (DXR)</a:t>
            </a:r>
          </a:p>
        </p:txBody>
      </p:sp>
      <p:sp>
        <p:nvSpPr>
          <p:cNvPr id="9" name="TextBox 8"/>
          <p:cNvSpPr txBox="1"/>
          <p:nvPr/>
        </p:nvSpPr>
        <p:spPr>
          <a:xfrm>
            <a:off x="6858000" y="2240280"/>
            <a:ext cx="4572000" cy="365760"/>
          </a:xfrm>
          <a:prstGeom prst="rect">
            <a:avLst/>
          </a:prstGeom>
          <a:noFill/>
        </p:spPr>
        <p:txBody>
          <a:bodyPr wrap="square">
            <a:spAutoFit/>
          </a:bodyPr>
          <a:lstStyle/>
          <a:p>
            <a:pPr algn="ctr">
              <a:defRPr sz="2000" b="0">
                <a:solidFill>
                  <a:srgbClr val="0096FF"/>
                </a:solidFill>
                <a:latin typeface="Calibri"/>
              </a:defRPr>
            </a:pPr>
            <a:r>
              <a:t>↓</a:t>
            </a:r>
          </a:p>
        </p:txBody>
      </p:sp>
      <p:sp>
        <p:nvSpPr>
          <p:cNvPr id="10" name="TextBox 9"/>
          <p:cNvSpPr txBox="1"/>
          <p:nvPr/>
        </p:nvSpPr>
        <p:spPr>
          <a:xfrm>
            <a:off x="6858000" y="2743200"/>
            <a:ext cx="4572000" cy="365760"/>
          </a:xfrm>
          <a:prstGeom prst="rect">
            <a:avLst/>
          </a:prstGeom>
          <a:noFill/>
        </p:spPr>
        <p:txBody>
          <a:bodyPr wrap="square">
            <a:spAutoFit/>
          </a:bodyPr>
          <a:lstStyle/>
          <a:p>
            <a:pPr algn="ctr">
              <a:defRPr sz="1400" b="0">
                <a:solidFill>
                  <a:srgbClr val="FFFFFF"/>
                </a:solidFill>
                <a:latin typeface="Calibri"/>
              </a:defRPr>
            </a:pPr>
            <a:r>
              <a:t>VLM receives: viewport image + DXR JSON</a:t>
            </a:r>
          </a:p>
        </p:txBody>
      </p:sp>
      <p:sp>
        <p:nvSpPr>
          <p:cNvPr id="11" name="TextBox 10"/>
          <p:cNvSpPr txBox="1"/>
          <p:nvPr/>
        </p:nvSpPr>
        <p:spPr>
          <a:xfrm>
            <a:off x="6858000" y="3246120"/>
            <a:ext cx="4572000" cy="365760"/>
          </a:xfrm>
          <a:prstGeom prst="rect">
            <a:avLst/>
          </a:prstGeom>
          <a:noFill/>
        </p:spPr>
        <p:txBody>
          <a:bodyPr wrap="square">
            <a:spAutoFit/>
          </a:bodyPr>
          <a:lstStyle/>
          <a:p>
            <a:pPr algn="ctr">
              <a:defRPr sz="2000" b="0">
                <a:solidFill>
                  <a:srgbClr val="0096FF"/>
                </a:solidFill>
                <a:latin typeface="Calibri"/>
              </a:defRPr>
            </a:pPr>
            <a:r>
              <a:t>↓</a:t>
            </a:r>
          </a:p>
        </p:txBody>
      </p:sp>
      <p:sp>
        <p:nvSpPr>
          <p:cNvPr id="12" name="TextBox 11"/>
          <p:cNvSpPr txBox="1"/>
          <p:nvPr/>
        </p:nvSpPr>
        <p:spPr>
          <a:xfrm>
            <a:off x="6858000" y="3749039"/>
            <a:ext cx="4572000" cy="365760"/>
          </a:xfrm>
          <a:prstGeom prst="rect">
            <a:avLst/>
          </a:prstGeom>
          <a:noFill/>
        </p:spPr>
        <p:txBody>
          <a:bodyPr wrap="square">
            <a:spAutoFit/>
          </a:bodyPr>
          <a:lstStyle/>
          <a:p>
            <a:pPr algn="ctr">
              <a:defRPr sz="1400" b="0">
                <a:solidFill>
                  <a:srgbClr val="FFFFFF"/>
                </a:solidFill>
                <a:latin typeface="Calibri"/>
              </a:defRPr>
            </a:pPr>
            <a:r>
              <a:t>VLM answers user's question</a:t>
            </a:r>
          </a:p>
        </p:txBody>
      </p:sp>
      <p:sp>
        <p:nvSpPr>
          <p:cNvPr id="13" name="TextBox 12"/>
          <p:cNvSpPr txBox="1"/>
          <p:nvPr/>
        </p:nvSpPr>
        <p:spPr>
          <a:xfrm>
            <a:off x="6858000" y="4251960"/>
            <a:ext cx="4572000" cy="365760"/>
          </a:xfrm>
          <a:prstGeom prst="rect">
            <a:avLst/>
          </a:prstGeom>
          <a:noFill/>
        </p:spPr>
        <p:txBody>
          <a:bodyPr wrap="square">
            <a:spAutoFit/>
          </a:bodyPr>
          <a:lstStyle/>
          <a:p>
            <a:pPr algn="ctr">
              <a:defRPr sz="2000" b="0">
                <a:solidFill>
                  <a:srgbClr val="0096FF"/>
                </a:solidFill>
                <a:latin typeface="Calibri"/>
              </a:defRPr>
            </a:pPr>
            <a:r>
              <a:t>↓</a:t>
            </a:r>
          </a:p>
        </p:txBody>
      </p:sp>
      <p:sp>
        <p:nvSpPr>
          <p:cNvPr id="14" name="TextBox 13"/>
          <p:cNvSpPr txBox="1"/>
          <p:nvPr/>
        </p:nvSpPr>
        <p:spPr>
          <a:xfrm>
            <a:off x="6858000" y="4754880"/>
            <a:ext cx="4572000" cy="365760"/>
          </a:xfrm>
          <a:prstGeom prst="rect">
            <a:avLst/>
          </a:prstGeom>
          <a:noFill/>
        </p:spPr>
        <p:txBody>
          <a:bodyPr wrap="square">
            <a:spAutoFit/>
          </a:bodyPr>
          <a:lstStyle/>
          <a:p>
            <a:pPr algn="ctr">
              <a:defRPr sz="1400" b="0">
                <a:solidFill>
                  <a:srgbClr val="FFFFFF"/>
                </a:solidFill>
                <a:latin typeface="Calibri"/>
              </a:defRPr>
            </a:pPr>
            <a:r>
              <a:t>Answer displayed in VR overlay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731520" y="274320"/>
            <a:ext cx="10058400" cy="548640"/>
          </a:xfrm>
          <a:prstGeom prst="rect">
            <a:avLst/>
          </a:prstGeom>
          <a:noFill/>
        </p:spPr>
        <p:txBody>
          <a:bodyPr wrap="square">
            <a:spAutoFit/>
          </a:bodyPr>
          <a:lstStyle/>
          <a:p>
            <a:pPr algn="l">
              <a:defRPr sz="2800" b="1">
                <a:solidFill>
                  <a:srgbClr val="FFFFFF"/>
                </a:solidFill>
                <a:latin typeface="Calibri"/>
              </a:defRPr>
            </a:pPr>
            <a:r>
              <a:t>Comparison with Prior Work</a:t>
            </a:r>
          </a:p>
        </p:txBody>
      </p:sp>
      <p:pic>
        <p:nvPicPr>
          <p:cNvPr id="3" name="Picture 2" descr="fig5_prior_work.png"/>
          <p:cNvPicPr>
            <a:picLocks noChangeAspect="1"/>
          </p:cNvPicPr>
          <p:nvPr/>
        </p:nvPicPr>
        <p:blipFill>
          <a:blip r:embed="rId2"/>
          <a:stretch>
            <a:fillRect/>
          </a:stretch>
        </p:blipFill>
        <p:spPr>
          <a:xfrm>
            <a:off x="457200" y="1097280"/>
            <a:ext cx="6400800" cy="4114800"/>
          </a:xfrm>
          <a:prstGeom prst="rect">
            <a:avLst/>
          </a:prstGeom>
        </p:spPr>
      </p:pic>
      <p:sp>
        <p:nvSpPr>
          <p:cNvPr id="4" name="TextBox 3"/>
          <p:cNvSpPr txBox="1"/>
          <p:nvPr/>
        </p:nvSpPr>
        <p:spPr>
          <a:xfrm>
            <a:off x="7315200" y="1097280"/>
            <a:ext cx="4389120" cy="457200"/>
          </a:xfrm>
          <a:prstGeom prst="rect">
            <a:avLst/>
          </a:prstGeom>
          <a:noFill/>
        </p:spPr>
        <p:txBody>
          <a:bodyPr wrap="square">
            <a:spAutoFit/>
          </a:bodyPr>
          <a:lstStyle/>
          <a:p>
            <a:pPr algn="l">
              <a:defRPr sz="1800" b="1">
                <a:solidFill>
                  <a:srgbClr val="0096FF"/>
                </a:solidFill>
                <a:latin typeface="Calibri"/>
              </a:defRPr>
            </a:pPr>
            <a:r>
              <a:t>Our Contributions</a:t>
            </a:r>
          </a:p>
        </p:txBody>
      </p:sp>
      <p:sp>
        <p:nvSpPr>
          <p:cNvPr id="5" name="TextBox 4"/>
          <p:cNvSpPr txBox="1"/>
          <p:nvPr/>
        </p:nvSpPr>
        <p:spPr>
          <a:xfrm>
            <a:off x="7315200" y="1737360"/>
            <a:ext cx="4389120" cy="4114800"/>
          </a:xfrm>
          <a:prstGeom prst="rect">
            <a:avLst/>
          </a:prstGeom>
          <a:noFill/>
        </p:spPr>
        <p:txBody>
          <a:bodyPr wrap="square">
            <a:spAutoFit/>
          </a:bodyPr>
          <a:lstStyle/>
          <a:p>
            <a:pPr>
              <a:spcAft>
                <a:spcPts val="600"/>
              </a:spcAft>
              <a:defRPr sz="1300">
                <a:solidFill>
                  <a:srgbClr val="FFFFFF"/>
                </a:solidFill>
                <a:latin typeface="Calibri"/>
              </a:defRPr>
            </a:pPr>
            <a:r>
              <a:t>•  Broadest chart type diversity</a:t>
            </a:r>
            <a:br/>
            <a:r>
              <a:t>   (18 types vs 6–12 in prior work)</a:t>
            </a:r>
          </a:p>
          <a:p>
            <a:pPr>
              <a:spcAft>
                <a:spcPts val="600"/>
              </a:spcAft>
              <a:defRPr sz="1300">
                <a:solidFill>
                  <a:srgbClr val="FFFFFF"/>
                </a:solidFill>
                <a:latin typeface="Calibri"/>
              </a:defRPr>
            </a:pPr>
            <a:r>
              <a:t>•  First to identify invisible</a:t>
            </a:r>
            <a:br/>
            <a:r>
              <a:t>   ground truth as systematic flaw</a:t>
            </a:r>
          </a:p>
          <a:p>
            <a:pPr>
              <a:spcAft>
                <a:spcPts val="600"/>
              </a:spcAft>
              <a:defRPr sz="1300">
                <a:solidFill>
                  <a:srgbClr val="FFFFFF"/>
                </a:solidFill>
                <a:latin typeface="Calibri"/>
              </a:defRPr>
            </a:pPr>
            <a:r>
              <a:t>•  First to map VLM accuracy to</a:t>
            </a:r>
            <a:br/>
            <a:r>
              <a:t>   Cleveland &amp; McGill hierarchy</a:t>
            </a:r>
          </a:p>
          <a:p>
            <a:pPr>
              <a:spcAft>
                <a:spcPts val="600"/>
              </a:spcAft>
              <a:defRPr sz="1300">
                <a:solidFill>
                  <a:srgbClr val="FFFFFF"/>
                </a:solidFill>
                <a:latin typeface="Calibri"/>
              </a:defRPr>
            </a:pPr>
            <a:r>
              <a:t>•  First design guidelines for</a:t>
            </a:r>
            <a:br/>
            <a:r>
              <a:t>   VLM + immersive analytics</a:t>
            </a:r>
          </a:p>
          <a:p>
            <a:pPr>
              <a:spcAft>
                <a:spcPts val="600"/>
              </a:spcAft>
              <a:defRPr sz="1300">
                <a:solidFill>
                  <a:srgbClr val="FFFFFF"/>
                </a:solidFill>
                <a:latin typeface="Calibri"/>
              </a:defRPr>
            </a:pPr>
            <a:r>
              <a:t>•  Largest single-benchmark eval</a:t>
            </a:r>
            <a:br/>
            <a:r>
              <a:t>   (5,713 images with GPT-5.4)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731520" y="274320"/>
            <a:ext cx="10058400" cy="548640"/>
          </a:xfrm>
          <a:prstGeom prst="rect">
            <a:avLst/>
          </a:prstGeom>
          <a:noFill/>
        </p:spPr>
        <p:txBody>
          <a:bodyPr wrap="square">
            <a:spAutoFit/>
          </a:bodyPr>
          <a:lstStyle/>
          <a:p>
            <a:pPr algn="l">
              <a:defRPr sz="2800" b="1">
                <a:solidFill>
                  <a:srgbClr val="FFFFFF"/>
                </a:solidFill>
                <a:latin typeface="Calibri"/>
              </a:defRPr>
            </a:pPr>
            <a:r>
              <a:t>Limitations &amp; Future Work</a:t>
            </a:r>
          </a:p>
        </p:txBody>
      </p:sp>
      <p:sp>
        <p:nvSpPr>
          <p:cNvPr id="3" name="TextBox 2"/>
          <p:cNvSpPr txBox="1"/>
          <p:nvPr/>
        </p:nvSpPr>
        <p:spPr>
          <a:xfrm>
            <a:off x="731520" y="1097280"/>
            <a:ext cx="5029200" cy="457200"/>
          </a:xfrm>
          <a:prstGeom prst="rect">
            <a:avLst/>
          </a:prstGeom>
          <a:noFill/>
        </p:spPr>
        <p:txBody>
          <a:bodyPr wrap="square">
            <a:spAutoFit/>
          </a:bodyPr>
          <a:lstStyle/>
          <a:p>
            <a:pPr algn="l">
              <a:defRPr sz="2000" b="1">
                <a:solidFill>
                  <a:srgbClr val="F44336"/>
                </a:solidFill>
                <a:latin typeface="Calibri"/>
              </a:defRPr>
            </a:pPr>
            <a:r>
              <a:t>Limitations</a:t>
            </a:r>
          </a:p>
        </p:txBody>
      </p:sp>
      <p:sp>
        <p:nvSpPr>
          <p:cNvPr id="4" name="TextBox 3"/>
          <p:cNvSpPr txBox="1"/>
          <p:nvPr/>
        </p:nvSpPr>
        <p:spPr>
          <a:xfrm>
            <a:off x="731520" y="1645920"/>
            <a:ext cx="5029200" cy="3200400"/>
          </a:xfrm>
          <a:prstGeom prst="rect">
            <a:avLst/>
          </a:prstGeom>
          <a:noFill/>
        </p:spPr>
        <p:txBody>
          <a:bodyPr wrap="square">
            <a:spAutoFit/>
          </a:bodyPr>
          <a:lstStyle/>
          <a:p>
            <a:pPr>
              <a:spcAft>
                <a:spcPts val="600"/>
              </a:spcAft>
              <a:defRPr sz="1400">
                <a:solidFill>
                  <a:srgbClr val="FFFFFF"/>
                </a:solidFill>
                <a:latin typeface="Calibri"/>
              </a:defRPr>
            </a:pPr>
            <a:r>
              <a:t>•  Single model (GPT-5.4 only)</a:t>
            </a:r>
          </a:p>
          <a:p>
            <a:pPr>
              <a:spcAft>
                <a:spcPts val="600"/>
              </a:spcAft>
              <a:defRPr sz="1400">
                <a:solidFill>
                  <a:srgbClr val="FFFFFF"/>
                </a:solidFill>
                <a:latin typeface="Calibri"/>
              </a:defRPr>
            </a:pPr>
            <a:r>
              <a:t>•  One question per chart in ChartX</a:t>
            </a:r>
          </a:p>
          <a:p>
            <a:pPr>
              <a:spcAft>
                <a:spcPts val="600"/>
              </a:spcAft>
              <a:defRPr sz="1400">
                <a:solidFill>
                  <a:srgbClr val="FFFFFF"/>
                </a:solidFill>
                <a:latin typeface="Calibri"/>
              </a:defRPr>
            </a:pPr>
            <a:r>
              <a:t>•  3D evaluation limited to bar charts only</a:t>
            </a:r>
          </a:p>
          <a:p>
            <a:pPr>
              <a:spcAft>
                <a:spcPts val="600"/>
              </a:spcAft>
              <a:defRPr sz="1400">
                <a:solidFill>
                  <a:srgbClr val="FFFFFF"/>
                </a:solidFill>
                <a:latin typeface="Calibri"/>
              </a:defRPr>
            </a:pPr>
            <a:r>
              <a:t>•  Automated scoring may miss correct answers</a:t>
            </a:r>
          </a:p>
          <a:p>
            <a:pPr>
              <a:spcAft>
                <a:spcPts val="600"/>
              </a:spcAft>
              <a:defRPr sz="1400">
                <a:solidFill>
                  <a:srgbClr val="FFFFFF"/>
                </a:solidFill>
                <a:latin typeface="Calibri"/>
              </a:defRPr>
            </a:pPr>
            <a:r>
              <a:t>•  Static images, not live VR screenshots</a:t>
            </a:r>
          </a:p>
        </p:txBody>
      </p:sp>
      <p:sp>
        <p:nvSpPr>
          <p:cNvPr id="5" name="TextBox 4"/>
          <p:cNvSpPr txBox="1"/>
          <p:nvPr/>
        </p:nvSpPr>
        <p:spPr>
          <a:xfrm>
            <a:off x="6400800" y="1097280"/>
            <a:ext cx="5029200" cy="457200"/>
          </a:xfrm>
          <a:prstGeom prst="rect">
            <a:avLst/>
          </a:prstGeom>
          <a:noFill/>
        </p:spPr>
        <p:txBody>
          <a:bodyPr wrap="square">
            <a:spAutoFit/>
          </a:bodyPr>
          <a:lstStyle/>
          <a:p>
            <a:pPr algn="l">
              <a:defRPr sz="2000" b="1">
                <a:solidFill>
                  <a:srgbClr val="4CAF50"/>
                </a:solidFill>
                <a:latin typeface="Calibri"/>
              </a:defRPr>
            </a:pPr>
            <a:r>
              <a:t>Future Work</a:t>
            </a:r>
          </a:p>
        </p:txBody>
      </p:sp>
      <p:sp>
        <p:nvSpPr>
          <p:cNvPr id="6" name="TextBox 5"/>
          <p:cNvSpPr txBox="1"/>
          <p:nvPr/>
        </p:nvSpPr>
        <p:spPr>
          <a:xfrm>
            <a:off x="6400800" y="1645920"/>
            <a:ext cx="5029200" cy="4114800"/>
          </a:xfrm>
          <a:prstGeom prst="rect">
            <a:avLst/>
          </a:prstGeom>
          <a:noFill/>
        </p:spPr>
        <p:txBody>
          <a:bodyPr wrap="square">
            <a:spAutoFit/>
          </a:bodyPr>
          <a:lstStyle/>
          <a:p>
            <a:pPr>
              <a:spcAft>
                <a:spcPts val="600"/>
              </a:spcAft>
              <a:defRPr sz="1400">
                <a:solidFill>
                  <a:srgbClr val="FFFFFF"/>
                </a:solidFill>
                <a:latin typeface="Calibri"/>
              </a:defRPr>
            </a:pPr>
            <a:r>
              <a:t>•  DXR + Unity immersive rendering</a:t>
            </a:r>
            <a:br/>
            <a:r>
              <a:t>   condition (Meta Quest)</a:t>
            </a:r>
          </a:p>
          <a:p>
            <a:pPr>
              <a:spcAft>
                <a:spcPts val="600"/>
              </a:spcAft>
              <a:defRPr sz="1400">
                <a:solidFill>
                  <a:srgbClr val="FFFFFF"/>
                </a:solidFill>
                <a:latin typeface="Calibri"/>
              </a:defRPr>
            </a:pPr>
            <a:r>
              <a:t>•  Multi-viewpoint evaluation</a:t>
            </a:r>
            <a:br/>
            <a:r>
              <a:t>   (3–6 camera angles per chart)</a:t>
            </a:r>
          </a:p>
          <a:p>
            <a:pPr>
              <a:spcAft>
                <a:spcPts val="600"/>
              </a:spcAft>
              <a:defRPr sz="1400">
                <a:solidFill>
                  <a:srgbClr val="FFFFFF"/>
                </a:solidFill>
                <a:latin typeface="Calibri"/>
              </a:defRPr>
            </a:pPr>
            <a:r>
              <a:t>•  Structured grounding</a:t>
            </a:r>
            <a:br/>
            <a:r>
              <a:t>   (image + JSON system state)</a:t>
            </a:r>
          </a:p>
          <a:p>
            <a:pPr>
              <a:spcAft>
                <a:spcPts val="600"/>
              </a:spcAft>
              <a:defRPr sz="1400">
                <a:solidFill>
                  <a:srgbClr val="FFFFFF"/>
                </a:solidFill>
                <a:latin typeface="Calibri"/>
              </a:defRPr>
            </a:pPr>
            <a:r>
              <a:t>•  Multi-model comparison</a:t>
            </a:r>
            <a:br/>
            <a:r>
              <a:t>   (Claude, Gemini, open-source)</a:t>
            </a:r>
          </a:p>
          <a:p>
            <a:pPr>
              <a:spcAft>
                <a:spcPts val="600"/>
              </a:spcAft>
              <a:defRPr sz="1400">
                <a:solidFill>
                  <a:srgbClr val="FFFFFF"/>
                </a:solidFill>
                <a:latin typeface="Calibri"/>
              </a:defRPr>
            </a:pPr>
            <a:r>
              <a:t>•  Human study: VLM-assisted vs</a:t>
            </a:r>
            <a:br/>
            <a:r>
              <a:t>   unassisted chart reading in VR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731520" y="274320"/>
            <a:ext cx="10058400" cy="548640"/>
          </a:xfrm>
          <a:prstGeom prst="rect">
            <a:avLst/>
          </a:prstGeom>
          <a:noFill/>
        </p:spPr>
        <p:txBody>
          <a:bodyPr wrap="square">
            <a:spAutoFit/>
          </a:bodyPr>
          <a:lstStyle/>
          <a:p>
            <a:pPr algn="l">
              <a:defRPr sz="2800" b="1">
                <a:solidFill>
                  <a:srgbClr val="FFFFFF"/>
                </a:solidFill>
                <a:latin typeface="Calibri"/>
              </a:defRPr>
            </a:pPr>
            <a:r>
              <a:t>Summary</a:t>
            </a:r>
          </a:p>
        </p:txBody>
      </p:sp>
      <p:sp>
        <p:nvSpPr>
          <p:cNvPr id="3" name="TextBox 2"/>
          <p:cNvSpPr txBox="1"/>
          <p:nvPr/>
        </p:nvSpPr>
        <p:spPr>
          <a:xfrm>
            <a:off x="731520" y="1097280"/>
            <a:ext cx="10058400" cy="457200"/>
          </a:xfrm>
          <a:prstGeom prst="rect">
            <a:avLst/>
          </a:prstGeom>
          <a:noFill/>
        </p:spPr>
        <p:txBody>
          <a:bodyPr wrap="square">
            <a:spAutoFit/>
          </a:bodyPr>
          <a:lstStyle/>
          <a:p>
            <a:pPr algn="l">
              <a:defRPr sz="2000" b="1">
                <a:solidFill>
                  <a:srgbClr val="0096FF"/>
                </a:solidFill>
                <a:latin typeface="Calibri"/>
              </a:defRPr>
            </a:pPr>
            <a:r>
              <a:t>Three Key Findings</a:t>
            </a:r>
          </a:p>
        </p:txBody>
      </p:sp>
      <p:sp>
        <p:nvSpPr>
          <p:cNvPr id="4" name="Oval 3"/>
          <p:cNvSpPr/>
          <p:nvPr/>
        </p:nvSpPr>
        <p:spPr>
          <a:xfrm>
            <a:off x="914400" y="1737360"/>
            <a:ext cx="457200" cy="457200"/>
          </a:xfrm>
          <a:prstGeom prst="ellipse">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defRPr>
            </a:pPr>
            <a:r>
              <a:t>1</a:t>
            </a:r>
          </a:p>
        </p:txBody>
      </p:sp>
      <p:sp>
        <p:nvSpPr>
          <p:cNvPr id="5" name="TextBox 4"/>
          <p:cNvSpPr txBox="1"/>
          <p:nvPr/>
        </p:nvSpPr>
        <p:spPr>
          <a:xfrm>
            <a:off x="1645920" y="1737360"/>
            <a:ext cx="9144000" cy="365760"/>
          </a:xfrm>
          <a:prstGeom prst="rect">
            <a:avLst/>
          </a:prstGeom>
          <a:noFill/>
        </p:spPr>
        <p:txBody>
          <a:bodyPr wrap="square">
            <a:spAutoFit/>
          </a:bodyPr>
          <a:lstStyle/>
          <a:p>
            <a:pPr algn="l">
              <a:defRPr sz="1600" b="1">
                <a:solidFill>
                  <a:srgbClr val="FFFFFF"/>
                </a:solidFill>
                <a:latin typeface="Calibri"/>
              </a:defRPr>
            </a:pPr>
            <a:r>
              <a:t>85.7% on 2D, 59.3% on 3D</a:t>
            </a:r>
          </a:p>
        </p:txBody>
      </p:sp>
      <p:sp>
        <p:nvSpPr>
          <p:cNvPr id="6" name="TextBox 5"/>
          <p:cNvSpPr txBox="1"/>
          <p:nvPr/>
        </p:nvSpPr>
        <p:spPr>
          <a:xfrm>
            <a:off x="1645920" y="2103120"/>
            <a:ext cx="9144000" cy="548640"/>
          </a:xfrm>
          <a:prstGeom prst="rect">
            <a:avLst/>
          </a:prstGeom>
          <a:noFill/>
        </p:spPr>
        <p:txBody>
          <a:bodyPr wrap="square">
            <a:spAutoFit/>
          </a:bodyPr>
          <a:lstStyle/>
          <a:p>
            <a:pPr algn="l">
              <a:defRPr sz="1300" b="0">
                <a:solidFill>
                  <a:srgbClr val="CCCCCC"/>
                </a:solidFill>
                <a:latin typeface="Calibri"/>
              </a:defRPr>
            </a:pPr>
            <a:r>
              <a:t>VLMs are strong on flat charts but collapse under 3D perspective.</a:t>
            </a:r>
          </a:p>
        </p:txBody>
      </p:sp>
      <p:sp>
        <p:nvSpPr>
          <p:cNvPr id="7" name="Oval 6"/>
          <p:cNvSpPr/>
          <p:nvPr/>
        </p:nvSpPr>
        <p:spPr>
          <a:xfrm>
            <a:off x="914400" y="2834639"/>
            <a:ext cx="457200" cy="457200"/>
          </a:xfrm>
          <a:prstGeom prst="ellipse">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defRPr>
            </a:pPr>
            <a:r>
              <a:t>2</a:t>
            </a:r>
          </a:p>
        </p:txBody>
      </p:sp>
      <p:sp>
        <p:nvSpPr>
          <p:cNvPr id="8" name="TextBox 7"/>
          <p:cNvSpPr txBox="1"/>
          <p:nvPr/>
        </p:nvSpPr>
        <p:spPr>
          <a:xfrm>
            <a:off x="1645920" y="2834639"/>
            <a:ext cx="9144000" cy="365760"/>
          </a:xfrm>
          <a:prstGeom prst="rect">
            <a:avLst/>
          </a:prstGeom>
          <a:noFill/>
        </p:spPr>
        <p:txBody>
          <a:bodyPr wrap="square">
            <a:spAutoFit/>
          </a:bodyPr>
          <a:lstStyle/>
          <a:p>
            <a:pPr algn="l">
              <a:defRPr sz="1600" b="1">
                <a:solidFill>
                  <a:srgbClr val="FFFFFF"/>
                </a:solidFill>
                <a:latin typeface="Calibri"/>
              </a:defRPr>
            </a:pPr>
            <a:r>
              <a:t>43pp gap follows perceptual science</a:t>
            </a:r>
          </a:p>
        </p:txBody>
      </p:sp>
      <p:sp>
        <p:nvSpPr>
          <p:cNvPr id="9" name="TextBox 8"/>
          <p:cNvSpPr txBox="1"/>
          <p:nvPr/>
        </p:nvSpPr>
        <p:spPr>
          <a:xfrm>
            <a:off x="1645920" y="3200399"/>
            <a:ext cx="9144000" cy="548640"/>
          </a:xfrm>
          <a:prstGeom prst="rect">
            <a:avLst/>
          </a:prstGeom>
          <a:noFill/>
        </p:spPr>
        <p:txBody>
          <a:bodyPr wrap="square">
            <a:spAutoFit/>
          </a:bodyPr>
          <a:lstStyle/>
          <a:p>
            <a:pPr algn="l">
              <a:defRPr sz="1300" b="0">
                <a:solidFill>
                  <a:srgbClr val="CCCCCC"/>
                </a:solidFill>
                <a:latin typeface="Calibri"/>
              </a:defRPr>
            </a:pPr>
            <a:r>
              <a:t>Position-encoded charts (92–95%) &gt;&gt; Area-encoded charts (52–71%),</a:t>
            </a:r>
            <a:br/>
            <a:r>
              <a:t>exactly as Cleveland &amp; McGill predicted in 1984.</a:t>
            </a:r>
          </a:p>
        </p:txBody>
      </p:sp>
      <p:sp>
        <p:nvSpPr>
          <p:cNvPr id="10" name="Oval 9"/>
          <p:cNvSpPr/>
          <p:nvPr/>
        </p:nvSpPr>
        <p:spPr>
          <a:xfrm>
            <a:off x="914400" y="3931920"/>
            <a:ext cx="457200" cy="457200"/>
          </a:xfrm>
          <a:prstGeom prst="ellipse">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defRPr>
            </a:pPr>
            <a:r>
              <a:t>3</a:t>
            </a:r>
          </a:p>
        </p:txBody>
      </p:sp>
      <p:sp>
        <p:nvSpPr>
          <p:cNvPr id="11" name="TextBox 10"/>
          <p:cNvSpPr txBox="1"/>
          <p:nvPr/>
        </p:nvSpPr>
        <p:spPr>
          <a:xfrm>
            <a:off x="1645920" y="3931920"/>
            <a:ext cx="9144000" cy="365760"/>
          </a:xfrm>
          <a:prstGeom prst="rect">
            <a:avLst/>
          </a:prstGeom>
          <a:noFill/>
        </p:spPr>
        <p:txBody>
          <a:bodyPr wrap="square">
            <a:spAutoFit/>
          </a:bodyPr>
          <a:lstStyle/>
          <a:p>
            <a:pPr algn="l">
              <a:defRPr sz="1600" b="1">
                <a:solidFill>
                  <a:srgbClr val="FFFFFF"/>
                </a:solidFill>
                <a:latin typeface="Calibri"/>
              </a:defRPr>
            </a:pPr>
            <a:r>
              <a:t>Invisible ground truth</a:t>
            </a:r>
          </a:p>
        </p:txBody>
      </p:sp>
      <p:sp>
        <p:nvSpPr>
          <p:cNvPr id="12" name="TextBox 11"/>
          <p:cNvSpPr txBox="1"/>
          <p:nvPr/>
        </p:nvSpPr>
        <p:spPr>
          <a:xfrm>
            <a:off x="1645920" y="4297680"/>
            <a:ext cx="9144000" cy="548640"/>
          </a:xfrm>
          <a:prstGeom prst="rect">
            <a:avLst/>
          </a:prstGeom>
          <a:noFill/>
        </p:spPr>
        <p:txBody>
          <a:bodyPr wrap="square">
            <a:spAutoFit/>
          </a:bodyPr>
          <a:lstStyle/>
          <a:p>
            <a:pPr algn="l">
              <a:defRPr sz="1300" b="0">
                <a:solidFill>
                  <a:srgbClr val="CCCCCC"/>
                </a:solidFill>
                <a:latin typeface="Calibri"/>
              </a:defRPr>
            </a:pPr>
            <a:r>
              <a:t>Treemap failures are partly a benchmark design problem —</a:t>
            </a:r>
            <a:br/>
            <a:r>
              <a:t>questions expect data not visible in the image.</a:t>
            </a:r>
          </a:p>
        </p:txBody>
      </p:sp>
      <p:sp>
        <p:nvSpPr>
          <p:cNvPr id="13" name="TextBox 12"/>
          <p:cNvSpPr txBox="1"/>
          <p:nvPr/>
        </p:nvSpPr>
        <p:spPr>
          <a:xfrm>
            <a:off x="914400" y="5029200"/>
            <a:ext cx="10058400" cy="731520"/>
          </a:xfrm>
          <a:prstGeom prst="rect">
            <a:avLst/>
          </a:prstGeom>
          <a:noFill/>
        </p:spPr>
        <p:txBody>
          <a:bodyPr wrap="square">
            <a:spAutoFit/>
          </a:bodyPr>
          <a:lstStyle/>
          <a:p>
            <a:pPr algn="ctr">
              <a:defRPr sz="1800" b="1">
                <a:solidFill>
                  <a:srgbClr val="FF9800"/>
                </a:solidFill>
                <a:latin typeface="Calibri"/>
              </a:defRPr>
            </a:pPr>
            <a:r>
              <a:t>VLM chart comprehension follows the same perceptual hierarchy as human vision.</a:t>
            </a:r>
            <a:br/>
            <a:r>
              <a:t>Position is easy. Area is hard. 3D makes everything worse.</a:t>
            </a:r>
          </a:p>
        </p:txBody>
      </p:sp>
      <p:sp>
        <p:nvSpPr>
          <p:cNvPr id="14" name="TextBox 13"/>
          <p:cNvSpPr txBox="1"/>
          <p:nvPr/>
        </p:nvSpPr>
        <p:spPr>
          <a:xfrm>
            <a:off x="914400" y="6035040"/>
            <a:ext cx="10058400" cy="548640"/>
          </a:xfrm>
          <a:prstGeom prst="rect">
            <a:avLst/>
          </a:prstGeom>
          <a:noFill/>
        </p:spPr>
        <p:txBody>
          <a:bodyPr wrap="square">
            <a:spAutoFit/>
          </a:bodyPr>
          <a:lstStyle/>
          <a:p>
            <a:pPr algn="ctr">
              <a:defRPr sz="2400" b="1">
                <a:solidFill>
                  <a:srgbClr val="FFFFFF"/>
                </a:solidFill>
                <a:latin typeface="Calibri"/>
              </a:defRPr>
            </a:pPr>
            <a:r>
              <a:t>Thank you!  |  Questions?</a:t>
            </a:r>
          </a:p>
        </p:txBody>
      </p:sp>
      <p:sp>
        <p:nvSpPr>
          <p:cNvPr id="15" name="TextBox 14"/>
          <p:cNvSpPr txBox="1"/>
          <p:nvPr/>
        </p:nvSpPr>
        <p:spPr>
          <a:xfrm>
            <a:off x="914400" y="6400800"/>
            <a:ext cx="10058400" cy="365760"/>
          </a:xfrm>
          <a:prstGeom prst="rect">
            <a:avLst/>
          </a:prstGeom>
          <a:noFill/>
        </p:spPr>
        <p:txBody>
          <a:bodyPr wrap="square">
            <a:spAutoFit/>
          </a:bodyPr>
          <a:lstStyle/>
          <a:p>
            <a:pPr algn="ctr">
              <a:defRPr sz="1200" b="0">
                <a:solidFill>
                  <a:srgbClr val="CCCCCC"/>
                </a:solidFill>
                <a:latin typeface="Calibri"/>
              </a:defRPr>
            </a:pPr>
            <a:r>
              <a:t>nchennu@gmu.edu  |  hbuchire@gmu.edu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